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26" y="9355104"/>
            <a:ext cx="191485" cy="19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848" y="9355104"/>
            <a:ext cx="191484" cy="1900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116" y="9355104"/>
            <a:ext cx="191486" cy="19005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8840" y="9355104"/>
            <a:ext cx="191486" cy="19005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26" y="9355104"/>
            <a:ext cx="191485" cy="19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848" y="9355104"/>
            <a:ext cx="191484" cy="1900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116" y="9355104"/>
            <a:ext cx="191486" cy="19005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8840" y="9355104"/>
            <a:ext cx="191486" cy="19005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295338"/>
            <a:ext cx="12495380" cy="18389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94627" y="3090087"/>
            <a:ext cx="10666730" cy="5002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6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3.png"/><Relationship Id="rId7" Type="http://schemas.openxmlformats.org/officeDocument/2006/relationships/image" Target="../media/image31.jpg"/><Relationship Id="rId8" Type="http://schemas.openxmlformats.org/officeDocument/2006/relationships/image" Target="../media/image4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35.jpg"/><Relationship Id="rId10" Type="http://schemas.openxmlformats.org/officeDocument/2006/relationships/image" Target="../media/image4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14.png"/><Relationship Id="rId5" Type="http://schemas.openxmlformats.org/officeDocument/2006/relationships/image" Target="../media/image4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14.png"/><Relationship Id="rId5" Type="http://schemas.openxmlformats.org/officeDocument/2006/relationships/image" Target="../media/image4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jpg"/><Relationship Id="rId3" Type="http://schemas.openxmlformats.org/officeDocument/2006/relationships/image" Target="../media/image39.png"/><Relationship Id="rId4" Type="http://schemas.openxmlformats.org/officeDocument/2006/relationships/image" Target="../media/image46.png"/><Relationship Id="rId5" Type="http://schemas.openxmlformats.org/officeDocument/2006/relationships/image" Target="../media/image3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3.png"/><Relationship Id="rId5" Type="http://schemas.openxmlformats.org/officeDocument/2006/relationships/image" Target="../media/image51.png"/><Relationship Id="rId6" Type="http://schemas.openxmlformats.org/officeDocument/2006/relationships/image" Target="../media/image52.jpg"/><Relationship Id="rId7" Type="http://schemas.openxmlformats.org/officeDocument/2006/relationships/image" Target="../media/image5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4026" y="455657"/>
            <a:ext cx="191485" cy="1900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71747" y="455657"/>
            <a:ext cx="191484" cy="1900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96016" y="455657"/>
            <a:ext cx="191486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53740" y="455657"/>
            <a:ext cx="191486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53106" y="9744029"/>
            <a:ext cx="191485" cy="1900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10827" y="9744029"/>
            <a:ext cx="191484" cy="1900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35096" y="9744029"/>
            <a:ext cx="191486" cy="190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92820" y="9744029"/>
            <a:ext cx="191486" cy="19005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856469"/>
            <a:ext cx="9429749" cy="543053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16000" y="351428"/>
            <a:ext cx="4834890" cy="439737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8480"/>
              </a:lnSpc>
              <a:spcBef>
                <a:spcPts val="705"/>
              </a:spcBef>
            </a:pPr>
            <a:r>
              <a:rPr dirty="0" sz="7500" spc="-265" b="1">
                <a:solidFill>
                  <a:srgbClr val="FF0000"/>
                </a:solidFill>
                <a:latin typeface="Tahoma"/>
                <a:cs typeface="Tahoma"/>
              </a:rPr>
              <a:t>S</a:t>
            </a:r>
            <a:r>
              <a:rPr dirty="0" sz="7500" spc="-265">
                <a:latin typeface="Lucida Sans Unicode"/>
                <a:cs typeface="Lucida Sans Unicode"/>
              </a:rPr>
              <a:t>ecure </a:t>
            </a:r>
            <a:r>
              <a:rPr dirty="0" sz="7500" spc="-10" b="1">
                <a:solidFill>
                  <a:srgbClr val="0078DA"/>
                </a:solidFill>
                <a:latin typeface="Tahoma"/>
                <a:cs typeface="Tahoma"/>
              </a:rPr>
              <a:t>A</a:t>
            </a:r>
            <a:r>
              <a:rPr dirty="0" sz="7500" spc="-10">
                <a:latin typeface="Lucida Sans Unicode"/>
                <a:cs typeface="Lucida Sans Unicode"/>
              </a:rPr>
              <a:t>daptive </a:t>
            </a:r>
            <a:r>
              <a:rPr dirty="0" sz="7500" spc="-300" b="1">
                <a:solidFill>
                  <a:srgbClr val="CB6BE6"/>
                </a:solidFill>
                <a:latin typeface="Tahoma"/>
                <a:cs typeface="Tahoma"/>
              </a:rPr>
              <a:t>C</a:t>
            </a:r>
            <a:r>
              <a:rPr dirty="0" sz="7500" spc="-300">
                <a:latin typeface="Lucida Sans Unicode"/>
                <a:cs typeface="Lucida Sans Unicode"/>
              </a:rPr>
              <a:t>ontinuum </a:t>
            </a:r>
            <a:r>
              <a:rPr dirty="0" sz="7500" spc="-355" b="1">
                <a:solidFill>
                  <a:srgbClr val="7DD957"/>
                </a:solidFill>
                <a:latin typeface="Tahoma"/>
                <a:cs typeface="Tahoma"/>
              </a:rPr>
              <a:t>E</a:t>
            </a:r>
            <a:r>
              <a:rPr dirty="0" sz="7500" spc="-355">
                <a:latin typeface="Lucida Sans Unicode"/>
                <a:cs typeface="Lucida Sans Unicode"/>
              </a:rPr>
              <a:t>xplorer</a:t>
            </a:r>
            <a:endParaRPr sz="75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585019" y="5036803"/>
            <a:ext cx="6428740" cy="3502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1063625">
              <a:lnSpc>
                <a:spcPct val="114100"/>
              </a:lnSpc>
              <a:spcBef>
                <a:spcPts val="95"/>
              </a:spcBef>
            </a:pPr>
            <a:r>
              <a:rPr dirty="0" sz="4000" spc="-95">
                <a:latin typeface="Lucida Sans Unicode"/>
                <a:cs typeface="Lucida Sans Unicode"/>
              </a:rPr>
              <a:t>VEERESH</a:t>
            </a:r>
            <a:r>
              <a:rPr dirty="0" sz="4000" spc="-385">
                <a:latin typeface="Lucida Sans Unicode"/>
                <a:cs typeface="Lucida Sans Unicode"/>
              </a:rPr>
              <a:t> </a:t>
            </a:r>
            <a:r>
              <a:rPr dirty="0" sz="4000" spc="105">
                <a:latin typeface="Lucida Sans Unicode"/>
                <a:cs typeface="Lucida Sans Unicode"/>
              </a:rPr>
              <a:t>S</a:t>
            </a:r>
            <a:r>
              <a:rPr dirty="0" sz="4000" spc="-380">
                <a:latin typeface="Lucida Sans Unicode"/>
                <a:cs typeface="Lucida Sans Unicode"/>
              </a:rPr>
              <a:t> </a:t>
            </a:r>
            <a:r>
              <a:rPr dirty="0" sz="4000" spc="-165">
                <a:latin typeface="Lucida Sans Unicode"/>
                <a:cs typeface="Lucida Sans Unicode"/>
              </a:rPr>
              <a:t>K</a:t>
            </a:r>
            <a:r>
              <a:rPr dirty="0" sz="4000" spc="-385">
                <a:latin typeface="Lucida Sans Unicode"/>
                <a:cs typeface="Lucida Sans Unicode"/>
              </a:rPr>
              <a:t> </a:t>
            </a:r>
            <a:r>
              <a:rPr dirty="0" sz="4000" spc="-165">
                <a:latin typeface="Lucida Sans Unicode"/>
                <a:cs typeface="Lucida Sans Unicode"/>
              </a:rPr>
              <a:t>(23B1309) </a:t>
            </a:r>
            <a:r>
              <a:rPr dirty="0" sz="4000" spc="-185">
                <a:latin typeface="Lucida Sans Unicode"/>
                <a:cs typeface="Lucida Sans Unicode"/>
              </a:rPr>
              <a:t>RISHITH</a:t>
            </a:r>
            <a:r>
              <a:rPr dirty="0" sz="4000" spc="-370">
                <a:latin typeface="Lucida Sans Unicode"/>
                <a:cs typeface="Lucida Sans Unicode"/>
              </a:rPr>
              <a:t> </a:t>
            </a:r>
            <a:r>
              <a:rPr dirty="0" sz="4000" spc="-265">
                <a:latin typeface="Lucida Sans Unicode"/>
                <a:cs typeface="Lucida Sans Unicode"/>
              </a:rPr>
              <a:t>GUPTA</a:t>
            </a:r>
            <a:r>
              <a:rPr dirty="0" sz="4000" spc="-365">
                <a:latin typeface="Lucida Sans Unicode"/>
                <a:cs typeface="Lucida Sans Unicode"/>
              </a:rPr>
              <a:t> </a:t>
            </a:r>
            <a:r>
              <a:rPr dirty="0" sz="4000" spc="-60">
                <a:latin typeface="Lucida Sans Unicode"/>
                <a:cs typeface="Lucida Sans Unicode"/>
              </a:rPr>
              <a:t>(23B1234) </a:t>
            </a:r>
            <a:r>
              <a:rPr dirty="0" sz="4000" spc="-190">
                <a:latin typeface="Lucida Sans Unicode"/>
                <a:cs typeface="Lucida Sans Unicode"/>
              </a:rPr>
              <a:t>ARSHIT</a:t>
            </a:r>
            <a:r>
              <a:rPr dirty="0" sz="4000" spc="-360">
                <a:latin typeface="Lucida Sans Unicode"/>
                <a:cs typeface="Lucida Sans Unicode"/>
              </a:rPr>
              <a:t> </a:t>
            </a:r>
            <a:r>
              <a:rPr dirty="0" sz="4000" spc="-130">
                <a:latin typeface="Lucida Sans Unicode"/>
                <a:cs typeface="Lucida Sans Unicode"/>
              </a:rPr>
              <a:t>SINGH</a:t>
            </a:r>
            <a:r>
              <a:rPr dirty="0" sz="4000" spc="-360">
                <a:latin typeface="Lucida Sans Unicode"/>
                <a:cs typeface="Lucida Sans Unicode"/>
              </a:rPr>
              <a:t> </a:t>
            </a:r>
            <a:r>
              <a:rPr dirty="0" sz="4000" spc="-60">
                <a:latin typeface="Lucida Sans Unicode"/>
                <a:cs typeface="Lucida Sans Unicode"/>
              </a:rPr>
              <a:t>(23B1275) </a:t>
            </a:r>
            <a:r>
              <a:rPr dirty="0" sz="4000" spc="-185">
                <a:latin typeface="Lucida Sans Unicode"/>
                <a:cs typeface="Lucida Sans Unicode"/>
              </a:rPr>
              <a:t>PRITHVI</a:t>
            </a:r>
            <a:r>
              <a:rPr dirty="0" sz="4000" spc="-350">
                <a:latin typeface="Lucida Sans Unicode"/>
                <a:cs typeface="Lucida Sans Unicode"/>
              </a:rPr>
              <a:t> </a:t>
            </a:r>
            <a:r>
              <a:rPr dirty="0" sz="4000" spc="-155">
                <a:latin typeface="Lucida Sans Unicode"/>
                <a:cs typeface="Lucida Sans Unicode"/>
              </a:rPr>
              <a:t>SANGAM</a:t>
            </a:r>
            <a:r>
              <a:rPr dirty="0" sz="4000" spc="-350">
                <a:latin typeface="Lucida Sans Unicode"/>
                <a:cs typeface="Lucida Sans Unicode"/>
              </a:rPr>
              <a:t> </a:t>
            </a:r>
            <a:r>
              <a:rPr dirty="0" sz="4000" spc="-155">
                <a:latin typeface="Lucida Sans Unicode"/>
                <a:cs typeface="Lucida Sans Unicode"/>
              </a:rPr>
              <a:t>(23B1292) </a:t>
            </a:r>
            <a:r>
              <a:rPr dirty="0" sz="4000" spc="-225">
                <a:latin typeface="Lucida Sans Unicode"/>
                <a:cs typeface="Lucida Sans Unicode"/>
              </a:rPr>
              <a:t>ARIJIT</a:t>
            </a:r>
            <a:r>
              <a:rPr dirty="0" sz="4000" spc="-370">
                <a:latin typeface="Lucida Sans Unicode"/>
                <a:cs typeface="Lucida Sans Unicode"/>
              </a:rPr>
              <a:t> </a:t>
            </a:r>
            <a:r>
              <a:rPr dirty="0" sz="4000" spc="-155">
                <a:latin typeface="Lucida Sans Unicode"/>
                <a:cs typeface="Lucida Sans Unicode"/>
              </a:rPr>
              <a:t>PAUL</a:t>
            </a:r>
            <a:r>
              <a:rPr dirty="0" sz="4000" spc="-370">
                <a:latin typeface="Lucida Sans Unicode"/>
                <a:cs typeface="Lucida Sans Unicode"/>
              </a:rPr>
              <a:t> </a:t>
            </a:r>
            <a:r>
              <a:rPr dirty="0" sz="4000" spc="-65">
                <a:latin typeface="Lucida Sans Unicode"/>
                <a:cs typeface="Lucida Sans Unicode"/>
              </a:rPr>
              <a:t>(23B1219)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812665" y="2074636"/>
            <a:ext cx="444690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spc="430"/>
              <a:t>TUE-</a:t>
            </a:r>
            <a:r>
              <a:rPr dirty="0" sz="9000" spc="335"/>
              <a:t>1</a:t>
            </a:r>
            <a:r>
              <a:rPr dirty="0" sz="9000" spc="-390"/>
              <a:t>6</a:t>
            </a:r>
            <a:endParaRPr sz="9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26" y="9355104"/>
            <a:ext cx="191485" cy="1900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848" y="9355104"/>
            <a:ext cx="191484" cy="1900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116" y="9355104"/>
            <a:ext cx="191486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8840" y="9355104"/>
            <a:ext cx="191486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55273" y="2326360"/>
            <a:ext cx="1364615" cy="5769610"/>
          </a:xfrm>
          <a:prstGeom prst="rect">
            <a:avLst/>
          </a:prstGeom>
        </p:spPr>
        <p:txBody>
          <a:bodyPr wrap="square" lIns="0" tIns="454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75"/>
              </a:spcBef>
            </a:pPr>
            <a:r>
              <a:rPr dirty="0" sz="9750" spc="-1300">
                <a:latin typeface="Lucida Sans Unicode"/>
                <a:cs typeface="Lucida Sans Unicode"/>
              </a:rPr>
              <a:t>0</a:t>
            </a:r>
            <a:r>
              <a:rPr dirty="0" sz="9750" spc="-545">
                <a:latin typeface="Lucida Sans Unicode"/>
                <a:cs typeface="Lucida Sans Unicode"/>
              </a:rPr>
              <a:t>1</a:t>
            </a:r>
            <a:endParaRPr sz="9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79"/>
              </a:spcBef>
            </a:pPr>
            <a:r>
              <a:rPr dirty="0" sz="9750" spc="-1300">
                <a:latin typeface="Lucida Sans Unicode"/>
                <a:cs typeface="Lucida Sans Unicode"/>
              </a:rPr>
              <a:t>0</a:t>
            </a:r>
            <a:r>
              <a:rPr dirty="0" sz="9750" spc="-545">
                <a:latin typeface="Lucida Sans Unicode"/>
                <a:cs typeface="Lucida Sans Unicode"/>
              </a:rPr>
              <a:t>2</a:t>
            </a:r>
            <a:endParaRPr sz="9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70"/>
              </a:spcBef>
            </a:pPr>
            <a:r>
              <a:rPr dirty="0" sz="9750" spc="-1300">
                <a:latin typeface="Lucida Sans Unicode"/>
                <a:cs typeface="Lucida Sans Unicode"/>
              </a:rPr>
              <a:t>0</a:t>
            </a:r>
            <a:r>
              <a:rPr dirty="0" sz="9750" spc="-545">
                <a:latin typeface="Lucida Sans Unicode"/>
                <a:cs typeface="Lucida Sans Unicode"/>
              </a:rPr>
              <a:t>3</a:t>
            </a:r>
            <a:endParaRPr sz="97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7032" rIns="0" bIns="0" rtlCol="0" vert="horz">
            <a:spAutoFit/>
          </a:bodyPr>
          <a:lstStyle/>
          <a:p>
            <a:pPr marL="5210810">
              <a:lnSpc>
                <a:spcPct val="100000"/>
              </a:lnSpc>
              <a:spcBef>
                <a:spcPts val="100"/>
              </a:spcBef>
            </a:pPr>
            <a:r>
              <a:rPr dirty="0" spc="450"/>
              <a:t>SUMMA</a:t>
            </a:r>
            <a:r>
              <a:rPr dirty="0" spc="35"/>
              <a:t>R</a:t>
            </a:r>
            <a:r>
              <a:rPr dirty="0" spc="-195"/>
              <a:t>Y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3290026" y="3171419"/>
            <a:ext cx="1924050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95">
                <a:latin typeface="Lucida Sans Unicode"/>
                <a:cs typeface="Lucida Sans Unicode"/>
              </a:rPr>
              <a:t>WHAT?</a:t>
            </a:r>
            <a:endParaRPr sz="43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389727" y="5088672"/>
            <a:ext cx="1676400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220">
                <a:latin typeface="Lucida Sans Unicode"/>
                <a:cs typeface="Lucida Sans Unicode"/>
              </a:rPr>
              <a:t>WHO?</a:t>
            </a:r>
            <a:endParaRPr sz="43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26996" y="6986144"/>
            <a:ext cx="3001645" cy="68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270">
                <a:latin typeface="Lucida Sans Unicode"/>
                <a:cs typeface="Lucida Sans Unicode"/>
              </a:rPr>
              <a:t>PROBLEM?</a:t>
            </a:r>
            <a:endParaRPr sz="43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66065">
              <a:lnSpc>
                <a:spcPct val="115500"/>
              </a:lnSpc>
              <a:spcBef>
                <a:spcPts val="100"/>
              </a:spcBef>
              <a:tabLst>
                <a:tab pos="2056130" algn="l"/>
                <a:tab pos="4535805" algn="l"/>
                <a:tab pos="7903209" algn="l"/>
              </a:tabLst>
            </a:pPr>
            <a:r>
              <a:rPr dirty="0" spc="-10"/>
              <a:t>modular</a:t>
            </a:r>
            <a:r>
              <a:rPr dirty="0"/>
              <a:t>	</a:t>
            </a:r>
            <a:r>
              <a:rPr dirty="0" spc="-10"/>
              <a:t>continuum</a:t>
            </a:r>
            <a:r>
              <a:rPr dirty="0"/>
              <a:t>	</a:t>
            </a:r>
            <a:r>
              <a:rPr dirty="0" spc="-65"/>
              <a:t>tentacle-</a:t>
            </a:r>
            <a:r>
              <a:rPr dirty="0" spc="-10"/>
              <a:t>based</a:t>
            </a:r>
            <a:r>
              <a:rPr dirty="0"/>
              <a:t>	</a:t>
            </a:r>
            <a:r>
              <a:rPr dirty="0" spc="-120"/>
              <a:t>end-</a:t>
            </a:r>
            <a:r>
              <a:rPr dirty="0" spc="-40"/>
              <a:t>effector </a:t>
            </a:r>
            <a:r>
              <a:rPr dirty="0" spc="-50"/>
              <a:t>using</a:t>
            </a:r>
            <a:r>
              <a:rPr dirty="0" spc="-190"/>
              <a:t> </a:t>
            </a:r>
            <a:r>
              <a:rPr dirty="0" spc="-95"/>
              <a:t>tendon-</a:t>
            </a:r>
            <a:r>
              <a:rPr dirty="0" spc="-25"/>
              <a:t>driven</a:t>
            </a:r>
            <a:r>
              <a:rPr dirty="0" spc="-190"/>
              <a:t> </a:t>
            </a:r>
            <a:r>
              <a:rPr dirty="0" spc="-10"/>
              <a:t>actuation</a:t>
            </a:r>
            <a:r>
              <a:rPr dirty="0" spc="-185"/>
              <a:t> </a:t>
            </a:r>
            <a:r>
              <a:rPr dirty="0" spc="50"/>
              <a:t>and</a:t>
            </a:r>
            <a:r>
              <a:rPr dirty="0" spc="-190"/>
              <a:t> </a:t>
            </a:r>
            <a:r>
              <a:rPr dirty="0"/>
              <a:t>visual</a:t>
            </a:r>
            <a:r>
              <a:rPr dirty="0" spc="-185"/>
              <a:t> </a:t>
            </a:r>
            <a:r>
              <a:rPr dirty="0" spc="-10"/>
              <a:t>feedback</a:t>
            </a:r>
          </a:p>
          <a:p>
            <a:pPr marL="12700" marR="5080">
              <a:lnSpc>
                <a:spcPct val="115500"/>
              </a:lnSpc>
              <a:spcBef>
                <a:spcPts val="4555"/>
              </a:spcBef>
            </a:pPr>
            <a:r>
              <a:rPr dirty="0" spc="-40"/>
              <a:t>industrial</a:t>
            </a:r>
            <a:r>
              <a:rPr dirty="0" spc="-175"/>
              <a:t> </a:t>
            </a:r>
            <a:r>
              <a:rPr dirty="0"/>
              <a:t>maintenance,</a:t>
            </a:r>
            <a:r>
              <a:rPr dirty="0" spc="-180"/>
              <a:t> </a:t>
            </a:r>
            <a:r>
              <a:rPr dirty="0" spc="-20"/>
              <a:t>medical/surgical</a:t>
            </a:r>
            <a:r>
              <a:rPr dirty="0" spc="-175"/>
              <a:t> </a:t>
            </a:r>
            <a:r>
              <a:rPr dirty="0" spc="-10"/>
              <a:t>researchers </a:t>
            </a:r>
            <a:r>
              <a:rPr dirty="0" spc="50"/>
              <a:t>and</a:t>
            </a:r>
            <a:r>
              <a:rPr dirty="0" spc="-185"/>
              <a:t> </a:t>
            </a:r>
            <a:r>
              <a:rPr dirty="0" spc="-45"/>
              <a:t>rescue</a:t>
            </a:r>
            <a:r>
              <a:rPr dirty="0" spc="-180"/>
              <a:t> </a:t>
            </a:r>
            <a:r>
              <a:rPr dirty="0" spc="-45"/>
              <a:t>professionals</a:t>
            </a:r>
            <a:r>
              <a:rPr dirty="0" spc="-180"/>
              <a:t> </a:t>
            </a:r>
            <a:r>
              <a:rPr dirty="0" spc="-45"/>
              <a:t>requiring</a:t>
            </a:r>
            <a:r>
              <a:rPr dirty="0" spc="-180"/>
              <a:t> </a:t>
            </a:r>
            <a:r>
              <a:rPr dirty="0" spc="-55"/>
              <a:t>flexible</a:t>
            </a:r>
            <a:r>
              <a:rPr dirty="0" spc="-180"/>
              <a:t> </a:t>
            </a:r>
            <a:r>
              <a:rPr dirty="0" spc="-10"/>
              <a:t>robotic systems</a:t>
            </a:r>
          </a:p>
          <a:p>
            <a:pPr marL="12700" marR="266065">
              <a:lnSpc>
                <a:spcPct val="115500"/>
              </a:lnSpc>
              <a:spcBef>
                <a:spcPts val="2610"/>
              </a:spcBef>
              <a:tabLst>
                <a:tab pos="2628900" algn="l"/>
                <a:tab pos="4465320" algn="l"/>
                <a:tab pos="7323455" algn="l"/>
                <a:tab pos="8561705" algn="l"/>
              </a:tabLst>
            </a:pPr>
            <a:r>
              <a:rPr dirty="0" spc="-10"/>
              <a:t>overcomes</a:t>
            </a:r>
            <a:r>
              <a:rPr dirty="0"/>
              <a:t>	</a:t>
            </a:r>
            <a:r>
              <a:rPr dirty="0" spc="-10"/>
              <a:t>limited</a:t>
            </a:r>
            <a:r>
              <a:rPr dirty="0"/>
              <a:t>	</a:t>
            </a:r>
            <a:r>
              <a:rPr dirty="0" spc="-10"/>
              <a:t>accessibility</a:t>
            </a:r>
            <a:r>
              <a:rPr dirty="0"/>
              <a:t>	</a:t>
            </a:r>
            <a:r>
              <a:rPr dirty="0" spc="25"/>
              <a:t>and</a:t>
            </a:r>
            <a:r>
              <a:rPr dirty="0"/>
              <a:t>	</a:t>
            </a:r>
            <a:r>
              <a:rPr dirty="0" spc="-100"/>
              <a:t>dexterity, </a:t>
            </a:r>
            <a:r>
              <a:rPr dirty="0"/>
              <a:t>adaptive</a:t>
            </a:r>
            <a:r>
              <a:rPr dirty="0" spc="-160"/>
              <a:t> </a:t>
            </a:r>
            <a:r>
              <a:rPr dirty="0" spc="-30"/>
              <a:t>grasping</a:t>
            </a:r>
            <a:r>
              <a:rPr dirty="0" spc="-155"/>
              <a:t> </a:t>
            </a:r>
            <a:r>
              <a:rPr dirty="0" spc="50"/>
              <a:t>and</a:t>
            </a:r>
            <a:r>
              <a:rPr dirty="0" spc="-155"/>
              <a:t> </a:t>
            </a:r>
            <a:r>
              <a:rPr dirty="0"/>
              <a:t>safe</a:t>
            </a:r>
            <a:r>
              <a:rPr dirty="0" spc="-155"/>
              <a:t> </a:t>
            </a:r>
            <a:r>
              <a:rPr dirty="0" spc="-10"/>
              <a:t>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6487" y="4692478"/>
            <a:ext cx="1282700" cy="1422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150" spc="-1225">
                <a:latin typeface="Lucida Sans Unicode"/>
                <a:cs typeface="Lucida Sans Unicode"/>
              </a:rPr>
              <a:t>0</a:t>
            </a:r>
            <a:r>
              <a:rPr dirty="0" sz="9150" spc="-515">
                <a:latin typeface="Lucida Sans Unicode"/>
                <a:cs typeface="Lucida Sans Unicode"/>
              </a:rPr>
              <a:t>2</a:t>
            </a:r>
            <a:endParaRPr sz="91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7032" rIns="0" bIns="0" rtlCol="0" vert="horz">
            <a:spAutoFit/>
          </a:bodyPr>
          <a:lstStyle/>
          <a:p>
            <a:pPr marL="357251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SPECIFIC</a:t>
            </a:r>
            <a:r>
              <a:rPr dirty="0" spc="-560"/>
              <a:t>A</a:t>
            </a:r>
            <a:r>
              <a:rPr dirty="0" spc="80"/>
              <a:t>TION</a:t>
            </a:r>
            <a:r>
              <a:rPr dirty="0" spc="-565"/>
              <a:t>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1087" y="2488317"/>
            <a:ext cx="6588759" cy="1422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3357" sz="13725" spc="-1800">
                <a:latin typeface="Lucida Sans Unicode"/>
                <a:cs typeface="Lucida Sans Unicode"/>
              </a:rPr>
              <a:t>0</a:t>
            </a:r>
            <a:r>
              <a:rPr dirty="0" baseline="-13357" sz="13725" spc="-735">
                <a:latin typeface="Lucida Sans Unicode"/>
                <a:cs typeface="Lucida Sans Unicode"/>
              </a:rPr>
              <a:t>1</a:t>
            </a:r>
            <a:r>
              <a:rPr dirty="0" baseline="-13357" sz="13725" spc="-412">
                <a:latin typeface="Lucida Sans Unicode"/>
                <a:cs typeface="Lucida Sans Unicode"/>
              </a:rPr>
              <a:t> </a:t>
            </a:r>
            <a:r>
              <a:rPr dirty="0" sz="3700" spc="135">
                <a:latin typeface="Lucida Sans Unicode"/>
                <a:cs typeface="Lucida Sans Unicode"/>
              </a:rPr>
              <a:t>LINK</a:t>
            </a:r>
            <a:r>
              <a:rPr dirty="0" sz="3700" spc="380">
                <a:latin typeface="Lucida Sans Unicode"/>
                <a:cs typeface="Lucida Sans Unicode"/>
              </a:rPr>
              <a:t> </a:t>
            </a:r>
            <a:r>
              <a:rPr dirty="0" sz="3700" spc="210">
                <a:latin typeface="Lucida Sans Unicode"/>
                <a:cs typeface="Lucida Sans Unicode"/>
              </a:rPr>
              <a:t>BENDING</a:t>
            </a:r>
            <a:r>
              <a:rPr dirty="0" sz="3700" spc="385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:</a:t>
            </a:r>
            <a:r>
              <a:rPr dirty="0" sz="3700" spc="380">
                <a:latin typeface="Lucida Sans Unicode"/>
                <a:cs typeface="Lucida Sans Unicode"/>
              </a:rPr>
              <a:t> </a:t>
            </a:r>
            <a:r>
              <a:rPr dirty="0" sz="3700" spc="135">
                <a:latin typeface="Lucida Sans Unicode"/>
                <a:cs typeface="Lucida Sans Unicode"/>
              </a:rPr>
              <a:t>30°</a:t>
            </a:r>
            <a:endParaRPr sz="37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32649" y="4721061"/>
            <a:ext cx="5704205" cy="1339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dirty="0" sz="3700" spc="195">
                <a:latin typeface="Lucida Sans Unicode"/>
                <a:cs typeface="Lucida Sans Unicode"/>
              </a:rPr>
              <a:t>EXTENSION</a:t>
            </a:r>
            <a:r>
              <a:rPr dirty="0" sz="3700" spc="355">
                <a:latin typeface="Lucida Sans Unicode"/>
                <a:cs typeface="Lucida Sans Unicode"/>
              </a:rPr>
              <a:t> </a:t>
            </a:r>
            <a:r>
              <a:rPr dirty="0" sz="3700" spc="55">
                <a:latin typeface="Lucida Sans Unicode"/>
                <a:cs typeface="Lucida Sans Unicode"/>
              </a:rPr>
              <a:t>OF</a:t>
            </a:r>
            <a:r>
              <a:rPr dirty="0" sz="3700" spc="355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:</a:t>
            </a:r>
            <a:r>
              <a:rPr dirty="0" sz="3700" spc="355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40</a:t>
            </a:r>
            <a:r>
              <a:rPr dirty="0" sz="3700" spc="355">
                <a:latin typeface="Lucida Sans Unicode"/>
                <a:cs typeface="Lucida Sans Unicode"/>
              </a:rPr>
              <a:t> </a:t>
            </a:r>
            <a:r>
              <a:rPr dirty="0" sz="3700" spc="50">
                <a:latin typeface="Lucida Sans Unicode"/>
                <a:cs typeface="Lucida Sans Unicode"/>
              </a:rPr>
              <a:t>cm </a:t>
            </a:r>
            <a:r>
              <a:rPr dirty="0" sz="3700" spc="195">
                <a:latin typeface="Lucida Sans Unicode"/>
                <a:cs typeface="Lucida Sans Unicode"/>
              </a:rPr>
              <a:t>LEADSCREW</a:t>
            </a:r>
            <a:endParaRPr sz="37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1087" y="6304199"/>
            <a:ext cx="6207125" cy="1422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3357" sz="13725" spc="-1800">
                <a:latin typeface="Lucida Sans Unicode"/>
                <a:cs typeface="Lucida Sans Unicode"/>
              </a:rPr>
              <a:t>0</a:t>
            </a:r>
            <a:r>
              <a:rPr dirty="0" baseline="-13357" sz="13725" spc="-735">
                <a:latin typeface="Lucida Sans Unicode"/>
                <a:cs typeface="Lucida Sans Unicode"/>
              </a:rPr>
              <a:t>3</a:t>
            </a:r>
            <a:r>
              <a:rPr dirty="0" baseline="-13357" sz="13725" spc="-427">
                <a:latin typeface="Lucida Sans Unicode"/>
                <a:cs typeface="Lucida Sans Unicode"/>
              </a:rPr>
              <a:t> </a:t>
            </a:r>
            <a:r>
              <a:rPr dirty="0" sz="3700" spc="125">
                <a:latin typeface="Lucida Sans Unicode"/>
                <a:cs typeface="Lucida Sans Unicode"/>
              </a:rPr>
              <a:t>CAMERA</a:t>
            </a:r>
            <a:r>
              <a:rPr dirty="0" sz="3700" spc="380">
                <a:latin typeface="Lucida Sans Unicode"/>
                <a:cs typeface="Lucida Sans Unicode"/>
              </a:rPr>
              <a:t> </a:t>
            </a:r>
            <a:r>
              <a:rPr dirty="0" sz="3700" spc="50">
                <a:latin typeface="Lucida Sans Unicode"/>
                <a:cs typeface="Lucida Sans Unicode"/>
              </a:rPr>
              <a:t>FOV</a:t>
            </a:r>
            <a:r>
              <a:rPr dirty="0" sz="3700" spc="375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:</a:t>
            </a:r>
            <a:r>
              <a:rPr dirty="0" sz="3700" spc="380">
                <a:latin typeface="Lucida Sans Unicode"/>
                <a:cs typeface="Lucida Sans Unicode"/>
              </a:rPr>
              <a:t> </a:t>
            </a:r>
            <a:r>
              <a:rPr dirty="0" sz="3700" spc="135">
                <a:latin typeface="Lucida Sans Unicode"/>
                <a:cs typeface="Lucida Sans Unicode"/>
              </a:rPr>
              <a:t>60°</a:t>
            </a:r>
            <a:endParaRPr sz="37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3694" y="2220055"/>
            <a:ext cx="1282700" cy="4279900"/>
          </a:xfrm>
          <a:prstGeom prst="rect">
            <a:avLst/>
          </a:prstGeom>
        </p:spPr>
        <p:txBody>
          <a:bodyPr wrap="square" lIns="0" tIns="744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65"/>
              </a:spcBef>
            </a:pPr>
            <a:r>
              <a:rPr dirty="0" sz="9150" spc="-1225">
                <a:latin typeface="Lucida Sans Unicode"/>
                <a:cs typeface="Lucida Sans Unicode"/>
              </a:rPr>
              <a:t>0</a:t>
            </a:r>
            <a:r>
              <a:rPr dirty="0" sz="9150" spc="-515">
                <a:latin typeface="Lucida Sans Unicode"/>
                <a:cs typeface="Lucida Sans Unicode"/>
              </a:rPr>
              <a:t>4</a:t>
            </a:r>
            <a:endParaRPr sz="9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770"/>
              </a:spcBef>
            </a:pPr>
            <a:r>
              <a:rPr dirty="0" sz="9150" spc="-1225">
                <a:latin typeface="Lucida Sans Unicode"/>
                <a:cs typeface="Lucida Sans Unicode"/>
              </a:rPr>
              <a:t>0</a:t>
            </a:r>
            <a:r>
              <a:rPr dirty="0" sz="9150" spc="-515">
                <a:latin typeface="Lucida Sans Unicode"/>
                <a:cs typeface="Lucida Sans Unicode"/>
              </a:rPr>
              <a:t>5</a:t>
            </a:r>
            <a:endParaRPr sz="91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637865" y="3034115"/>
            <a:ext cx="7616190" cy="1339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dirty="0" sz="3700" spc="180">
                <a:latin typeface="Lucida Sans Unicode"/>
                <a:cs typeface="Lucida Sans Unicode"/>
              </a:rPr>
              <a:t>MINIMUM</a:t>
            </a:r>
            <a:r>
              <a:rPr dirty="0" sz="3700" spc="345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GRABBING</a:t>
            </a:r>
            <a:r>
              <a:rPr dirty="0" sz="3700" spc="345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:</a:t>
            </a:r>
            <a:r>
              <a:rPr dirty="0" sz="3700" spc="345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1.25</a:t>
            </a:r>
            <a:r>
              <a:rPr dirty="0" sz="3700" spc="345">
                <a:latin typeface="Lucida Sans Unicode"/>
                <a:cs typeface="Lucida Sans Unicode"/>
              </a:rPr>
              <a:t> </a:t>
            </a:r>
            <a:r>
              <a:rPr dirty="0" sz="3700" spc="50">
                <a:latin typeface="Lucida Sans Unicode"/>
                <a:cs typeface="Lucida Sans Unicode"/>
              </a:rPr>
              <a:t>cm </a:t>
            </a:r>
            <a:r>
              <a:rPr dirty="0" sz="3700" spc="185">
                <a:latin typeface="Lucida Sans Unicode"/>
                <a:cs typeface="Lucida Sans Unicode"/>
              </a:rPr>
              <a:t>RADIUS</a:t>
            </a:r>
            <a:endParaRPr sz="37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637865" y="5073440"/>
            <a:ext cx="7486015" cy="1339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dirty="0" sz="3700" spc="175">
                <a:latin typeface="Lucida Sans Unicode"/>
                <a:cs typeface="Lucida Sans Unicode"/>
              </a:rPr>
              <a:t>MAXIMUM</a:t>
            </a:r>
            <a:r>
              <a:rPr dirty="0" sz="3700" spc="409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GRABBING</a:t>
            </a:r>
            <a:r>
              <a:rPr dirty="0" sz="3700" spc="415">
                <a:latin typeface="Lucida Sans Unicode"/>
                <a:cs typeface="Lucida Sans Unicode"/>
              </a:rPr>
              <a:t> </a:t>
            </a:r>
            <a:r>
              <a:rPr dirty="0" sz="3700" spc="220">
                <a:latin typeface="Lucida Sans Unicode"/>
                <a:cs typeface="Lucida Sans Unicode"/>
              </a:rPr>
              <a:t>:</a:t>
            </a:r>
            <a:r>
              <a:rPr dirty="0" sz="3700" spc="409">
                <a:latin typeface="Lucida Sans Unicode"/>
                <a:cs typeface="Lucida Sans Unicode"/>
              </a:rPr>
              <a:t> </a:t>
            </a:r>
            <a:r>
              <a:rPr dirty="0" sz="3700">
                <a:latin typeface="Lucida Sans Unicode"/>
                <a:cs typeface="Lucida Sans Unicode"/>
              </a:rPr>
              <a:t>3.5</a:t>
            </a:r>
            <a:r>
              <a:rPr dirty="0" sz="3700" spc="415">
                <a:latin typeface="Lucida Sans Unicode"/>
                <a:cs typeface="Lucida Sans Unicode"/>
              </a:rPr>
              <a:t> </a:t>
            </a:r>
            <a:r>
              <a:rPr dirty="0" sz="3700" spc="50">
                <a:latin typeface="Lucida Sans Unicode"/>
                <a:cs typeface="Lucida Sans Unicode"/>
              </a:rPr>
              <a:t>cm </a:t>
            </a:r>
            <a:r>
              <a:rPr dirty="0" sz="3700" spc="185">
                <a:latin typeface="Lucida Sans Unicode"/>
                <a:cs typeface="Lucida Sans Unicode"/>
              </a:rPr>
              <a:t>RADIUS</a:t>
            </a:r>
            <a:endParaRPr sz="3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971619" y="4638677"/>
            <a:ext cx="5549265" cy="1590675"/>
          </a:xfrm>
          <a:custGeom>
            <a:avLst/>
            <a:gdLst/>
            <a:ahLst/>
            <a:cxnLst/>
            <a:rect l="l" t="t" r="r" b="b"/>
            <a:pathLst>
              <a:path w="5549265" h="1590675">
                <a:moveTo>
                  <a:pt x="5549074" y="1590675"/>
                </a:moveTo>
                <a:lnTo>
                  <a:pt x="0" y="1590675"/>
                </a:lnTo>
                <a:lnTo>
                  <a:pt x="0" y="0"/>
                </a:lnTo>
                <a:lnTo>
                  <a:pt x="5549074" y="0"/>
                </a:lnTo>
                <a:lnTo>
                  <a:pt x="5549074" y="1590675"/>
                </a:lnTo>
                <a:close/>
              </a:path>
            </a:pathLst>
          </a:custGeom>
          <a:solidFill>
            <a:srgbClr val="ECE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971619" y="6419853"/>
            <a:ext cx="5549265" cy="1057275"/>
          </a:xfrm>
          <a:custGeom>
            <a:avLst/>
            <a:gdLst/>
            <a:ahLst/>
            <a:cxnLst/>
            <a:rect l="l" t="t" r="r" b="b"/>
            <a:pathLst>
              <a:path w="5549265" h="1057275">
                <a:moveTo>
                  <a:pt x="5549074" y="1057275"/>
                </a:moveTo>
                <a:lnTo>
                  <a:pt x="0" y="1057275"/>
                </a:lnTo>
                <a:lnTo>
                  <a:pt x="0" y="0"/>
                </a:lnTo>
                <a:lnTo>
                  <a:pt x="5549074" y="0"/>
                </a:lnTo>
                <a:lnTo>
                  <a:pt x="5549074" y="1057275"/>
                </a:lnTo>
                <a:close/>
              </a:path>
            </a:pathLst>
          </a:custGeom>
          <a:solidFill>
            <a:srgbClr val="ECE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971619" y="7667628"/>
            <a:ext cx="5549265" cy="1590675"/>
          </a:xfrm>
          <a:custGeom>
            <a:avLst/>
            <a:gdLst/>
            <a:ahLst/>
            <a:cxnLst/>
            <a:rect l="l" t="t" r="r" b="b"/>
            <a:pathLst>
              <a:path w="5549265" h="1590675">
                <a:moveTo>
                  <a:pt x="5549074" y="1590675"/>
                </a:moveTo>
                <a:lnTo>
                  <a:pt x="0" y="1590675"/>
                </a:lnTo>
                <a:lnTo>
                  <a:pt x="0" y="0"/>
                </a:lnTo>
                <a:lnTo>
                  <a:pt x="5549074" y="0"/>
                </a:lnTo>
                <a:lnTo>
                  <a:pt x="5549074" y="1590675"/>
                </a:lnTo>
                <a:close/>
              </a:path>
            </a:pathLst>
          </a:custGeom>
          <a:solidFill>
            <a:srgbClr val="ECE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31725" y="2361821"/>
            <a:ext cx="6949440" cy="2086610"/>
          </a:xfrm>
          <a:prstGeom prst="rect">
            <a:avLst/>
          </a:prstGeom>
          <a:solidFill>
            <a:srgbClr val="BA99FF"/>
          </a:solidFill>
        </p:spPr>
        <p:txBody>
          <a:bodyPr wrap="square" lIns="0" tIns="46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3000">
              <a:latin typeface="Times New Roman"/>
              <a:cs typeface="Times New Roman"/>
            </a:endParaRPr>
          </a:p>
          <a:p>
            <a:pPr marL="459105" marR="451484" indent="355600">
              <a:lnSpc>
                <a:spcPct val="114599"/>
              </a:lnSpc>
              <a:spcBef>
                <a:spcPts val="5"/>
              </a:spcBef>
            </a:pPr>
            <a:r>
              <a:rPr dirty="0" sz="3000" spc="-80" b="1">
                <a:latin typeface="Tahoma"/>
                <a:cs typeface="Tahoma"/>
              </a:rPr>
              <a:t>Key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Requirements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proposed</a:t>
            </a:r>
            <a:r>
              <a:rPr dirty="0" sz="3000" spc="750" b="1">
                <a:latin typeface="Tahoma"/>
                <a:cs typeface="Tahoma"/>
              </a:rPr>
              <a:t> </a:t>
            </a:r>
            <a:r>
              <a:rPr dirty="0" sz="3000" spc="-30" b="1">
                <a:latin typeface="Tahoma"/>
                <a:cs typeface="Tahoma"/>
              </a:rPr>
              <a:t>at</a:t>
            </a:r>
            <a:r>
              <a:rPr dirty="0" sz="3000" spc="-190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the</a:t>
            </a:r>
            <a:r>
              <a:rPr dirty="0" sz="3000" spc="-14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beginning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the</a:t>
            </a:r>
            <a:r>
              <a:rPr dirty="0" sz="3000" spc="-140" b="1">
                <a:latin typeface="Tahoma"/>
                <a:cs typeface="Tahoma"/>
              </a:rPr>
              <a:t> </a:t>
            </a:r>
            <a:r>
              <a:rPr dirty="0" sz="3000" spc="-60" b="1">
                <a:latin typeface="Tahoma"/>
                <a:cs typeface="Tahoma"/>
              </a:rPr>
              <a:t>semester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71189" y="2361821"/>
            <a:ext cx="4010025" cy="2086610"/>
          </a:xfrm>
          <a:prstGeom prst="rect">
            <a:avLst/>
          </a:prstGeom>
          <a:solidFill>
            <a:srgbClr val="BA99FF"/>
          </a:solidFill>
        </p:spPr>
        <p:txBody>
          <a:bodyPr wrap="square" lIns="0" tIns="374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3000">
              <a:latin typeface="Times New Roman"/>
              <a:cs typeface="Times New Roman"/>
            </a:endParaRPr>
          </a:p>
          <a:p>
            <a:pPr marL="923290" marR="780415" indent="-135890">
              <a:lnSpc>
                <a:spcPct val="116700"/>
              </a:lnSpc>
              <a:spcBef>
                <a:spcPts val="5"/>
              </a:spcBef>
            </a:pPr>
            <a:r>
              <a:rPr dirty="0" sz="3000" spc="-110" b="1">
                <a:latin typeface="Tahoma"/>
                <a:cs typeface="Tahoma"/>
              </a:rPr>
              <a:t>Status </a:t>
            </a:r>
            <a:r>
              <a:rPr dirty="0" sz="3000" spc="-30" b="1">
                <a:latin typeface="Tahoma"/>
                <a:cs typeface="Tahoma"/>
              </a:rPr>
              <a:t>at</a:t>
            </a:r>
            <a:r>
              <a:rPr dirty="0" sz="3000" spc="-150" b="1">
                <a:latin typeface="Tahoma"/>
                <a:cs typeface="Tahoma"/>
              </a:rPr>
              <a:t> </a:t>
            </a:r>
            <a:r>
              <a:rPr dirty="0" sz="3000" spc="-25" b="1">
                <a:latin typeface="Tahoma"/>
                <a:cs typeface="Tahoma"/>
              </a:rPr>
              <a:t>end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9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semester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971619" y="2361821"/>
            <a:ext cx="5549265" cy="2086610"/>
          </a:xfrm>
          <a:prstGeom prst="rect">
            <a:avLst/>
          </a:prstGeom>
          <a:solidFill>
            <a:srgbClr val="BA99FF"/>
          </a:solidFill>
        </p:spPr>
        <p:txBody>
          <a:bodyPr wrap="square" lIns="0" tIns="3810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0"/>
              </a:spcBef>
            </a:pPr>
            <a:endParaRPr sz="3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000" spc="-65" b="1">
                <a:latin typeface="Tahoma"/>
                <a:cs typeface="Tahoma"/>
              </a:rPr>
              <a:t>Remarks/Justification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1725" y="4638677"/>
            <a:ext cx="6949440" cy="1590675"/>
          </a:xfrm>
          <a:prstGeom prst="rect">
            <a:avLst/>
          </a:prstGeom>
          <a:solidFill>
            <a:srgbClr val="DECCFF"/>
          </a:solidFill>
        </p:spPr>
        <p:txBody>
          <a:bodyPr wrap="square" lIns="0" tIns="227965" rIns="0" bIns="0" rtlCol="0" vert="horz">
            <a:spAutoFit/>
          </a:bodyPr>
          <a:lstStyle/>
          <a:p>
            <a:pPr marL="1991995" marR="1520825" indent="-561340">
              <a:lnSpc>
                <a:spcPct val="116700"/>
              </a:lnSpc>
              <a:spcBef>
                <a:spcPts val="1795"/>
              </a:spcBef>
            </a:pPr>
            <a:r>
              <a:rPr dirty="0" sz="3000" b="1">
                <a:latin typeface="Tahoma"/>
                <a:cs typeface="Tahoma"/>
              </a:rPr>
              <a:t>bending</a:t>
            </a:r>
            <a:r>
              <a:rPr dirty="0" sz="3000" spc="-175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7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individual </a:t>
            </a:r>
            <a:r>
              <a:rPr dirty="0" sz="3000" spc="-50" b="1">
                <a:latin typeface="Tahoma"/>
                <a:cs typeface="Tahoma"/>
              </a:rPr>
              <a:t>continuum</a:t>
            </a:r>
            <a:r>
              <a:rPr dirty="0" sz="3000" spc="-16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links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71189" y="4638677"/>
            <a:ext cx="4010025" cy="159067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133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0"/>
              </a:spcBef>
            </a:pPr>
            <a:endParaRPr sz="30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</a:pPr>
            <a:r>
              <a:rPr dirty="0" sz="3000" spc="-10" b="1">
                <a:latin typeface="Tahoma"/>
                <a:cs typeface="Tahoma"/>
              </a:rPr>
              <a:t>complete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1725" y="6419853"/>
            <a:ext cx="6949440" cy="1057275"/>
          </a:xfrm>
          <a:prstGeom prst="rect">
            <a:avLst/>
          </a:prstGeom>
          <a:solidFill>
            <a:srgbClr val="DECCFF"/>
          </a:solidFill>
        </p:spPr>
        <p:txBody>
          <a:bodyPr wrap="square" lIns="0" tIns="304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dirty="0" sz="3000" spc="-10" b="1">
                <a:latin typeface="Tahoma"/>
                <a:cs typeface="Tahoma"/>
              </a:rPr>
              <a:t>end-</a:t>
            </a:r>
            <a:r>
              <a:rPr dirty="0" sz="3000" spc="-70" b="1">
                <a:latin typeface="Tahoma"/>
                <a:cs typeface="Tahoma"/>
              </a:rPr>
              <a:t>effector</a:t>
            </a:r>
            <a:r>
              <a:rPr dirty="0" sz="3000" spc="-114" b="1">
                <a:latin typeface="Tahoma"/>
                <a:cs typeface="Tahoma"/>
              </a:rPr>
              <a:t> </a:t>
            </a:r>
            <a:r>
              <a:rPr dirty="0" sz="3000" spc="-90" b="1">
                <a:latin typeface="Tahoma"/>
                <a:cs typeface="Tahoma"/>
              </a:rPr>
              <a:t>object</a:t>
            </a:r>
            <a:r>
              <a:rPr dirty="0" sz="3000" spc="-11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gripping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771189" y="6419853"/>
            <a:ext cx="4010025" cy="105727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304800" rIns="0" bIns="0" rtlCol="0" vert="horz">
            <a:spAutoFit/>
          </a:bodyPr>
          <a:lstStyle/>
          <a:p>
            <a:pPr marL="1140460">
              <a:lnSpc>
                <a:spcPct val="100000"/>
              </a:lnSpc>
              <a:spcBef>
                <a:spcPts val="2400"/>
              </a:spcBef>
            </a:pPr>
            <a:r>
              <a:rPr dirty="0" sz="3000" spc="-10" b="1">
                <a:latin typeface="Tahoma"/>
                <a:cs typeface="Tahoma"/>
              </a:rPr>
              <a:t>complete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1725" y="7667628"/>
            <a:ext cx="6949440" cy="1590675"/>
          </a:xfrm>
          <a:prstGeom prst="rect">
            <a:avLst/>
          </a:prstGeom>
          <a:solidFill>
            <a:srgbClr val="DECCFF"/>
          </a:solidFill>
        </p:spPr>
        <p:txBody>
          <a:bodyPr wrap="square" lIns="0" tIns="227965" rIns="0" bIns="0" rtlCol="0" vert="horz">
            <a:spAutoFit/>
          </a:bodyPr>
          <a:lstStyle/>
          <a:p>
            <a:pPr marL="1728470" marR="980440" indent="-740410">
              <a:lnSpc>
                <a:spcPct val="116700"/>
              </a:lnSpc>
              <a:spcBef>
                <a:spcPts val="1795"/>
              </a:spcBef>
            </a:pPr>
            <a:r>
              <a:rPr dirty="0" sz="3000" spc="-20" b="1">
                <a:latin typeface="Tahoma"/>
                <a:cs typeface="Tahoma"/>
              </a:rPr>
              <a:t>hybrid</a:t>
            </a:r>
            <a:r>
              <a:rPr dirty="0" sz="3000" spc="-100" b="1">
                <a:latin typeface="Tahoma"/>
                <a:cs typeface="Tahoma"/>
              </a:rPr>
              <a:t> </a:t>
            </a:r>
            <a:r>
              <a:rPr dirty="0" sz="3000" spc="-55" b="1">
                <a:latin typeface="Tahoma"/>
                <a:cs typeface="Tahoma"/>
              </a:rPr>
              <a:t>continuum-</a:t>
            </a:r>
            <a:r>
              <a:rPr dirty="0" sz="3000" spc="-50" b="1">
                <a:latin typeface="Tahoma"/>
                <a:cs typeface="Tahoma"/>
              </a:rPr>
              <a:t>tentacle </a:t>
            </a:r>
            <a:r>
              <a:rPr dirty="0" sz="3000" spc="-20" b="1">
                <a:latin typeface="Tahoma"/>
                <a:cs typeface="Tahoma"/>
              </a:rPr>
              <a:t>mechanical</a:t>
            </a:r>
            <a:r>
              <a:rPr dirty="0" sz="3000" spc="-17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design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71189" y="7667628"/>
            <a:ext cx="4010025" cy="159067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133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0"/>
              </a:spcBef>
            </a:pPr>
            <a:endParaRPr sz="30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</a:pPr>
            <a:r>
              <a:rPr dirty="0" sz="3000" spc="-10" b="1">
                <a:latin typeface="Tahoma"/>
                <a:cs typeface="Tahoma"/>
              </a:rPr>
              <a:t>complete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028700" y="2099151"/>
            <a:ext cx="4369435" cy="0"/>
          </a:xfrm>
          <a:custGeom>
            <a:avLst/>
            <a:gdLst/>
            <a:ahLst/>
            <a:cxnLst/>
            <a:rect l="l" t="t" r="r" b="b"/>
            <a:pathLst>
              <a:path w="4369435" h="0">
                <a:moveTo>
                  <a:pt x="0" y="0"/>
                </a:moveTo>
                <a:lnTo>
                  <a:pt x="436930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3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STATUS</a:t>
            </a:r>
            <a:r>
              <a:rPr dirty="0" sz="6000" spc="740"/>
              <a:t> </a:t>
            </a:r>
            <a:r>
              <a:rPr dirty="0" sz="6000"/>
              <a:t>OF</a:t>
            </a:r>
            <a:r>
              <a:rPr dirty="0" sz="6000" spc="740"/>
              <a:t> </a:t>
            </a:r>
            <a:r>
              <a:rPr dirty="0" sz="6000" spc="-10"/>
              <a:t>PROJECT</a:t>
            </a:r>
            <a:endParaRPr sz="6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274705" y="4629150"/>
            <a:ext cx="5701030" cy="2124075"/>
          </a:xfrm>
          <a:custGeom>
            <a:avLst/>
            <a:gdLst/>
            <a:ahLst/>
            <a:cxnLst/>
            <a:rect l="l" t="t" r="r" b="b"/>
            <a:pathLst>
              <a:path w="5701030" h="2124075">
                <a:moveTo>
                  <a:pt x="5700522" y="2124075"/>
                </a:moveTo>
                <a:lnTo>
                  <a:pt x="0" y="2124075"/>
                </a:lnTo>
                <a:lnTo>
                  <a:pt x="0" y="0"/>
                </a:lnTo>
                <a:lnTo>
                  <a:pt x="5700522" y="0"/>
                </a:lnTo>
                <a:lnTo>
                  <a:pt x="5700522" y="2124075"/>
                </a:lnTo>
                <a:close/>
              </a:path>
            </a:pathLst>
          </a:custGeom>
          <a:solidFill>
            <a:srgbClr val="ECE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274705" y="6943725"/>
            <a:ext cx="5701030" cy="1600200"/>
          </a:xfrm>
          <a:custGeom>
            <a:avLst/>
            <a:gdLst/>
            <a:ahLst/>
            <a:cxnLst/>
            <a:rect l="l" t="t" r="r" b="b"/>
            <a:pathLst>
              <a:path w="5701030" h="1600200">
                <a:moveTo>
                  <a:pt x="5700522" y="1599819"/>
                </a:moveTo>
                <a:lnTo>
                  <a:pt x="0" y="1599819"/>
                </a:lnTo>
                <a:lnTo>
                  <a:pt x="0" y="0"/>
                </a:lnTo>
                <a:lnTo>
                  <a:pt x="5700522" y="0"/>
                </a:lnTo>
                <a:lnTo>
                  <a:pt x="5700522" y="1599819"/>
                </a:lnTo>
                <a:close/>
              </a:path>
            </a:pathLst>
          </a:custGeom>
          <a:solidFill>
            <a:srgbClr val="ECE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31725" y="2847974"/>
            <a:ext cx="7100570" cy="1590675"/>
          </a:xfrm>
          <a:prstGeom prst="rect">
            <a:avLst/>
          </a:prstGeom>
          <a:solidFill>
            <a:srgbClr val="BA99FF"/>
          </a:solidFill>
        </p:spPr>
        <p:txBody>
          <a:bodyPr wrap="square" lIns="0" tIns="238125" rIns="0" bIns="0" rtlCol="0" vert="horz">
            <a:spAutoFit/>
          </a:bodyPr>
          <a:lstStyle/>
          <a:p>
            <a:pPr marL="534670" marR="527050" indent="355600">
              <a:lnSpc>
                <a:spcPct val="114599"/>
              </a:lnSpc>
              <a:spcBef>
                <a:spcPts val="1875"/>
              </a:spcBef>
            </a:pPr>
            <a:r>
              <a:rPr dirty="0" sz="3000" spc="-80" b="1">
                <a:latin typeface="Tahoma"/>
                <a:cs typeface="Tahoma"/>
              </a:rPr>
              <a:t>Key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Requirements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proposed</a:t>
            </a:r>
            <a:r>
              <a:rPr dirty="0" sz="3000" spc="750" b="1">
                <a:latin typeface="Tahoma"/>
                <a:cs typeface="Tahoma"/>
              </a:rPr>
              <a:t> </a:t>
            </a:r>
            <a:r>
              <a:rPr dirty="0" sz="3000" spc="-30" b="1">
                <a:latin typeface="Tahoma"/>
                <a:cs typeface="Tahoma"/>
              </a:rPr>
              <a:t>at</a:t>
            </a:r>
            <a:r>
              <a:rPr dirty="0" sz="3000" spc="-190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the</a:t>
            </a:r>
            <a:r>
              <a:rPr dirty="0" sz="3000" spc="-14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beginning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the</a:t>
            </a:r>
            <a:r>
              <a:rPr dirty="0" sz="3000" spc="-140" b="1">
                <a:latin typeface="Tahoma"/>
                <a:cs typeface="Tahoma"/>
              </a:rPr>
              <a:t> </a:t>
            </a:r>
            <a:r>
              <a:rPr dirty="0" sz="3000" spc="-60" b="1">
                <a:latin typeface="Tahoma"/>
                <a:cs typeface="Tahoma"/>
              </a:rPr>
              <a:t>semester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922703" y="2847974"/>
            <a:ext cx="4161790" cy="1590675"/>
          </a:xfrm>
          <a:prstGeom prst="rect">
            <a:avLst/>
          </a:prstGeom>
          <a:solidFill>
            <a:srgbClr val="BA99FF"/>
          </a:solidFill>
        </p:spPr>
        <p:txBody>
          <a:bodyPr wrap="square" lIns="0" tIns="227965" rIns="0" bIns="0" rtlCol="0" vert="horz">
            <a:spAutoFit/>
          </a:bodyPr>
          <a:lstStyle/>
          <a:p>
            <a:pPr marL="999490" marR="856615" indent="-135890">
              <a:lnSpc>
                <a:spcPct val="116700"/>
              </a:lnSpc>
              <a:spcBef>
                <a:spcPts val="1795"/>
              </a:spcBef>
            </a:pPr>
            <a:r>
              <a:rPr dirty="0" sz="3000" spc="-110" b="1">
                <a:latin typeface="Tahoma"/>
                <a:cs typeface="Tahoma"/>
              </a:rPr>
              <a:t>Status </a:t>
            </a:r>
            <a:r>
              <a:rPr dirty="0" sz="3000" spc="-30" b="1">
                <a:latin typeface="Tahoma"/>
                <a:cs typeface="Tahoma"/>
              </a:rPr>
              <a:t>at</a:t>
            </a:r>
            <a:r>
              <a:rPr dirty="0" sz="3000" spc="-150" b="1">
                <a:latin typeface="Tahoma"/>
                <a:cs typeface="Tahoma"/>
              </a:rPr>
              <a:t> </a:t>
            </a:r>
            <a:r>
              <a:rPr dirty="0" sz="3000" spc="-25" b="1">
                <a:latin typeface="Tahoma"/>
                <a:cs typeface="Tahoma"/>
              </a:rPr>
              <a:t>end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9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semester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274705" y="2847974"/>
            <a:ext cx="5701030" cy="1590675"/>
          </a:xfrm>
          <a:prstGeom prst="rect">
            <a:avLst/>
          </a:prstGeom>
          <a:solidFill>
            <a:srgbClr val="BA99FF"/>
          </a:solidFill>
        </p:spPr>
        <p:txBody>
          <a:bodyPr wrap="square" lIns="0" tIns="133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0"/>
              </a:spcBef>
            </a:pPr>
            <a:endParaRPr sz="3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000" spc="-65" b="1">
                <a:latin typeface="Tahoma"/>
                <a:cs typeface="Tahoma"/>
              </a:rPr>
              <a:t>Remarks/Justification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1725" y="4629150"/>
            <a:ext cx="7100570" cy="2124075"/>
          </a:xfrm>
          <a:prstGeom prst="rect">
            <a:avLst/>
          </a:prstGeom>
          <a:solidFill>
            <a:srgbClr val="DECCFF"/>
          </a:solidFill>
        </p:spPr>
        <p:txBody>
          <a:bodyPr wrap="square" lIns="0" tIns="227965" rIns="0" bIns="0" rtlCol="0" vert="horz">
            <a:spAutoFit/>
          </a:bodyPr>
          <a:lstStyle/>
          <a:p>
            <a:pPr algn="ctr" marL="197485" marR="189865">
              <a:lnSpc>
                <a:spcPct val="116700"/>
              </a:lnSpc>
              <a:spcBef>
                <a:spcPts val="1795"/>
              </a:spcBef>
            </a:pPr>
            <a:r>
              <a:rPr dirty="0" sz="3000" spc="-60" b="1">
                <a:latin typeface="Tahoma"/>
                <a:cs typeface="Tahoma"/>
              </a:rPr>
              <a:t>user</a:t>
            </a:r>
            <a:r>
              <a:rPr dirty="0" sz="3000" spc="-145" b="1">
                <a:latin typeface="Tahoma"/>
                <a:cs typeface="Tahoma"/>
              </a:rPr>
              <a:t> </a:t>
            </a:r>
            <a:r>
              <a:rPr dirty="0" sz="3000" spc="-60" b="1">
                <a:latin typeface="Tahoma"/>
                <a:cs typeface="Tahoma"/>
              </a:rPr>
              <a:t>control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45" b="1">
                <a:latin typeface="Tahoma"/>
                <a:cs typeface="Tahoma"/>
              </a:rPr>
              <a:t>through</a:t>
            </a:r>
            <a:r>
              <a:rPr dirty="0" sz="3000" spc="-125" b="1">
                <a:latin typeface="Tahoma"/>
                <a:cs typeface="Tahoma"/>
              </a:rPr>
              <a:t> </a:t>
            </a:r>
            <a:r>
              <a:rPr dirty="0" sz="3000" spc="-254" b="1">
                <a:latin typeface="Tahoma"/>
                <a:cs typeface="Tahoma"/>
              </a:rPr>
              <a:t>GUI</a:t>
            </a:r>
            <a:r>
              <a:rPr dirty="0" sz="3000" spc="-11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commands </a:t>
            </a:r>
            <a:r>
              <a:rPr dirty="0" sz="3000" b="1">
                <a:latin typeface="Tahoma"/>
                <a:cs typeface="Tahoma"/>
              </a:rPr>
              <a:t>on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25" b="1">
                <a:latin typeface="Tahoma"/>
                <a:cs typeface="Tahoma"/>
              </a:rPr>
              <a:t>keyboard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70" b="1">
                <a:latin typeface="Tahoma"/>
                <a:cs typeface="Tahoma"/>
              </a:rPr>
              <a:t>with</a:t>
            </a:r>
            <a:r>
              <a:rPr dirty="0" sz="3000" spc="-14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live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camera feedback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922703" y="4629150"/>
            <a:ext cx="4161790" cy="212407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400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0"/>
              </a:spcBef>
            </a:pPr>
            <a:endParaRPr sz="3000">
              <a:latin typeface="Times New Roman"/>
              <a:cs typeface="Times New Roman"/>
            </a:endParaRPr>
          </a:p>
          <a:p>
            <a:pPr marL="1216025">
              <a:lnSpc>
                <a:spcPct val="100000"/>
              </a:lnSpc>
            </a:pPr>
            <a:r>
              <a:rPr dirty="0" sz="3000" spc="-10" b="1">
                <a:latin typeface="Tahoma"/>
                <a:cs typeface="Tahoma"/>
              </a:rPr>
              <a:t>complete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725" y="6943725"/>
            <a:ext cx="7100570" cy="1600200"/>
          </a:xfrm>
          <a:prstGeom prst="rect">
            <a:avLst/>
          </a:prstGeom>
          <a:solidFill>
            <a:srgbClr val="DECCFF"/>
          </a:solidFill>
        </p:spPr>
        <p:txBody>
          <a:bodyPr wrap="square" lIns="0" tIns="227965" rIns="0" bIns="0" rtlCol="0" vert="horz">
            <a:spAutoFit/>
          </a:bodyPr>
          <a:lstStyle/>
          <a:p>
            <a:pPr marL="2581910" marR="996315" indent="-1578610">
              <a:lnSpc>
                <a:spcPct val="116700"/>
              </a:lnSpc>
              <a:spcBef>
                <a:spcPts val="1795"/>
              </a:spcBef>
            </a:pPr>
            <a:r>
              <a:rPr dirty="0" sz="3000" spc="-60" b="1">
                <a:latin typeface="Tahoma"/>
                <a:cs typeface="Tahoma"/>
              </a:rPr>
              <a:t>limit</a:t>
            </a:r>
            <a:r>
              <a:rPr dirty="0" sz="3000" spc="-114" b="1">
                <a:latin typeface="Tahoma"/>
                <a:cs typeface="Tahoma"/>
              </a:rPr>
              <a:t> </a:t>
            </a:r>
            <a:r>
              <a:rPr dirty="0" sz="3000" spc="-75" b="1">
                <a:latin typeface="Tahoma"/>
                <a:cs typeface="Tahoma"/>
              </a:rPr>
              <a:t>switch-</a:t>
            </a:r>
            <a:r>
              <a:rPr dirty="0" sz="3000" b="1">
                <a:latin typeface="Tahoma"/>
                <a:cs typeface="Tahoma"/>
              </a:rPr>
              <a:t>based</a:t>
            </a:r>
            <a:r>
              <a:rPr dirty="0" sz="3000" spc="-114" b="1">
                <a:latin typeface="Tahoma"/>
                <a:cs typeface="Tahoma"/>
              </a:rPr>
              <a:t> </a:t>
            </a:r>
            <a:r>
              <a:rPr dirty="0" sz="3000" spc="-30" b="1">
                <a:latin typeface="Tahoma"/>
                <a:cs typeface="Tahoma"/>
              </a:rPr>
              <a:t>obstacle </a:t>
            </a:r>
            <a:r>
              <a:rPr dirty="0" sz="3000" spc="-10" b="1">
                <a:latin typeface="Tahoma"/>
                <a:cs typeface="Tahoma"/>
              </a:rPr>
              <a:t>avoidance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22703" y="6943725"/>
            <a:ext cx="4161790" cy="1600200"/>
          </a:xfrm>
          <a:prstGeom prst="rect">
            <a:avLst/>
          </a:prstGeom>
          <a:solidFill>
            <a:srgbClr val="ECE3FF"/>
          </a:solidFill>
        </p:spPr>
        <p:txBody>
          <a:bodyPr wrap="square" lIns="0" tIns="133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0"/>
              </a:spcBef>
            </a:pPr>
            <a:endParaRPr sz="3000">
              <a:latin typeface="Times New Roman"/>
              <a:cs typeface="Times New Roman"/>
            </a:endParaRPr>
          </a:p>
          <a:p>
            <a:pPr marL="1216025">
              <a:lnSpc>
                <a:spcPct val="100000"/>
              </a:lnSpc>
            </a:pPr>
            <a:r>
              <a:rPr dirty="0" sz="3000" spc="-10" b="1">
                <a:latin typeface="Tahoma"/>
                <a:cs typeface="Tahoma"/>
              </a:rPr>
              <a:t>complete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1028700" y="2099151"/>
            <a:ext cx="4369435" cy="0"/>
          </a:xfrm>
          <a:custGeom>
            <a:avLst/>
            <a:gdLst/>
            <a:ahLst/>
            <a:cxnLst/>
            <a:rect l="l" t="t" r="r" b="b"/>
            <a:pathLst>
              <a:path w="4369435" h="0">
                <a:moveTo>
                  <a:pt x="0" y="0"/>
                </a:moveTo>
                <a:lnTo>
                  <a:pt x="436930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3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STATUS</a:t>
            </a:r>
            <a:r>
              <a:rPr dirty="0" sz="6000" spc="740"/>
              <a:t> </a:t>
            </a:r>
            <a:r>
              <a:rPr dirty="0" sz="6000"/>
              <a:t>OF</a:t>
            </a:r>
            <a:r>
              <a:rPr dirty="0" sz="6000" spc="740"/>
              <a:t> </a:t>
            </a:r>
            <a:r>
              <a:rPr dirty="0" sz="6000" spc="-10"/>
              <a:t>PROJECT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274705" y="4629150"/>
            <a:ext cx="5701030" cy="1569085"/>
          </a:xfrm>
          <a:custGeom>
            <a:avLst/>
            <a:gdLst/>
            <a:ahLst/>
            <a:cxnLst/>
            <a:rect l="l" t="t" r="r" b="b"/>
            <a:pathLst>
              <a:path w="5701030" h="1569085">
                <a:moveTo>
                  <a:pt x="5700522" y="1568996"/>
                </a:moveTo>
                <a:lnTo>
                  <a:pt x="0" y="1568996"/>
                </a:lnTo>
                <a:lnTo>
                  <a:pt x="0" y="0"/>
                </a:lnTo>
                <a:lnTo>
                  <a:pt x="5700522" y="0"/>
                </a:lnTo>
                <a:lnTo>
                  <a:pt x="5700522" y="1568996"/>
                </a:lnTo>
                <a:close/>
              </a:path>
            </a:pathLst>
          </a:custGeom>
          <a:solidFill>
            <a:srgbClr val="ECE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31725" y="2847974"/>
            <a:ext cx="7100570" cy="1590675"/>
          </a:xfrm>
          <a:prstGeom prst="rect">
            <a:avLst/>
          </a:prstGeom>
          <a:solidFill>
            <a:srgbClr val="BA99FF"/>
          </a:solidFill>
        </p:spPr>
        <p:txBody>
          <a:bodyPr wrap="square" lIns="0" tIns="238125" rIns="0" bIns="0" rtlCol="0" vert="horz">
            <a:spAutoFit/>
          </a:bodyPr>
          <a:lstStyle/>
          <a:p>
            <a:pPr marL="534670" marR="527050" indent="355600">
              <a:lnSpc>
                <a:spcPct val="114599"/>
              </a:lnSpc>
              <a:spcBef>
                <a:spcPts val="1875"/>
              </a:spcBef>
            </a:pPr>
            <a:r>
              <a:rPr dirty="0" sz="3000" spc="-80" b="1">
                <a:latin typeface="Tahoma"/>
                <a:cs typeface="Tahoma"/>
              </a:rPr>
              <a:t>Key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Requirements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proposed</a:t>
            </a:r>
            <a:r>
              <a:rPr dirty="0" sz="3000" spc="750" b="1">
                <a:latin typeface="Tahoma"/>
                <a:cs typeface="Tahoma"/>
              </a:rPr>
              <a:t> </a:t>
            </a:r>
            <a:r>
              <a:rPr dirty="0" sz="3000" spc="-30" b="1">
                <a:latin typeface="Tahoma"/>
                <a:cs typeface="Tahoma"/>
              </a:rPr>
              <a:t>at</a:t>
            </a:r>
            <a:r>
              <a:rPr dirty="0" sz="3000" spc="-190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the</a:t>
            </a:r>
            <a:r>
              <a:rPr dirty="0" sz="3000" spc="-14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beginning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the</a:t>
            </a:r>
            <a:r>
              <a:rPr dirty="0" sz="3000" spc="-140" b="1">
                <a:latin typeface="Tahoma"/>
                <a:cs typeface="Tahoma"/>
              </a:rPr>
              <a:t> </a:t>
            </a:r>
            <a:r>
              <a:rPr dirty="0" sz="3000" spc="-60" b="1">
                <a:latin typeface="Tahoma"/>
                <a:cs typeface="Tahoma"/>
              </a:rPr>
              <a:t>semester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922703" y="2847974"/>
            <a:ext cx="4161790" cy="1590675"/>
          </a:xfrm>
          <a:prstGeom prst="rect">
            <a:avLst/>
          </a:prstGeom>
          <a:solidFill>
            <a:srgbClr val="BA99FF"/>
          </a:solidFill>
        </p:spPr>
        <p:txBody>
          <a:bodyPr wrap="square" lIns="0" tIns="227965" rIns="0" bIns="0" rtlCol="0" vert="horz">
            <a:spAutoFit/>
          </a:bodyPr>
          <a:lstStyle/>
          <a:p>
            <a:pPr marL="999490" marR="856615" indent="-135890">
              <a:lnSpc>
                <a:spcPct val="116700"/>
              </a:lnSpc>
              <a:spcBef>
                <a:spcPts val="1795"/>
              </a:spcBef>
            </a:pPr>
            <a:r>
              <a:rPr dirty="0" sz="3000" spc="-110" b="1">
                <a:latin typeface="Tahoma"/>
                <a:cs typeface="Tahoma"/>
              </a:rPr>
              <a:t>Status </a:t>
            </a:r>
            <a:r>
              <a:rPr dirty="0" sz="3000" spc="-30" b="1">
                <a:latin typeface="Tahoma"/>
                <a:cs typeface="Tahoma"/>
              </a:rPr>
              <a:t>at</a:t>
            </a:r>
            <a:r>
              <a:rPr dirty="0" sz="3000" spc="-150" b="1">
                <a:latin typeface="Tahoma"/>
                <a:cs typeface="Tahoma"/>
              </a:rPr>
              <a:t> </a:t>
            </a:r>
            <a:r>
              <a:rPr dirty="0" sz="3000" spc="-25" b="1">
                <a:latin typeface="Tahoma"/>
                <a:cs typeface="Tahoma"/>
              </a:rPr>
              <a:t>end </a:t>
            </a:r>
            <a:r>
              <a:rPr dirty="0" sz="3000" b="1">
                <a:latin typeface="Tahoma"/>
                <a:cs typeface="Tahoma"/>
              </a:rPr>
              <a:t>of</a:t>
            </a:r>
            <a:r>
              <a:rPr dirty="0" sz="3000" spc="-19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semester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274705" y="2847974"/>
            <a:ext cx="5701030" cy="1590675"/>
          </a:xfrm>
          <a:prstGeom prst="rect">
            <a:avLst/>
          </a:prstGeom>
          <a:solidFill>
            <a:srgbClr val="BA99FF"/>
          </a:solidFill>
        </p:spPr>
        <p:txBody>
          <a:bodyPr wrap="square" lIns="0" tIns="133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0"/>
              </a:spcBef>
            </a:pPr>
            <a:endParaRPr sz="3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000" spc="-65" b="1">
                <a:latin typeface="Tahoma"/>
                <a:cs typeface="Tahoma"/>
              </a:rPr>
              <a:t>Remarks/Justification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1725" y="4629150"/>
            <a:ext cx="7100570" cy="1569085"/>
          </a:xfrm>
          <a:prstGeom prst="rect">
            <a:avLst/>
          </a:prstGeom>
          <a:solidFill>
            <a:srgbClr val="DECCFF"/>
          </a:solidFill>
        </p:spPr>
        <p:txBody>
          <a:bodyPr wrap="square" lIns="0" tIns="1143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endParaRPr sz="3000">
              <a:latin typeface="Times New Roman"/>
              <a:cs typeface="Times New Roman"/>
            </a:endParaRPr>
          </a:p>
          <a:p>
            <a:pPr marL="588010">
              <a:lnSpc>
                <a:spcPct val="100000"/>
              </a:lnSpc>
            </a:pPr>
            <a:r>
              <a:rPr dirty="0" sz="3000" spc="-45" b="1">
                <a:latin typeface="Tahoma"/>
                <a:cs typeface="Tahoma"/>
              </a:rPr>
              <a:t>integrated</a:t>
            </a:r>
            <a:r>
              <a:rPr dirty="0" sz="3000" spc="-135" b="1">
                <a:latin typeface="Tahoma"/>
                <a:cs typeface="Tahoma"/>
              </a:rPr>
              <a:t> </a:t>
            </a:r>
            <a:r>
              <a:rPr dirty="0" sz="3000" spc="-35" b="1">
                <a:latin typeface="Tahoma"/>
                <a:cs typeface="Tahoma"/>
              </a:rPr>
              <a:t>multiple</a:t>
            </a:r>
            <a:r>
              <a:rPr dirty="0" sz="3000" spc="-120" b="1">
                <a:latin typeface="Tahoma"/>
                <a:cs typeface="Tahoma"/>
              </a:rPr>
              <a:t> </a:t>
            </a:r>
            <a:r>
              <a:rPr dirty="0" sz="3000" spc="-114" b="1">
                <a:latin typeface="Tahoma"/>
                <a:cs typeface="Tahoma"/>
              </a:rPr>
              <a:t>RPis</a:t>
            </a:r>
            <a:r>
              <a:rPr dirty="0" sz="3000" spc="-110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and</a:t>
            </a:r>
            <a:r>
              <a:rPr dirty="0" sz="3000" spc="-120" b="1">
                <a:latin typeface="Tahoma"/>
                <a:cs typeface="Tahoma"/>
              </a:rPr>
              <a:t> </a:t>
            </a:r>
            <a:r>
              <a:rPr dirty="0" sz="3000" spc="-305" b="1">
                <a:latin typeface="Tahoma"/>
                <a:cs typeface="Tahoma"/>
              </a:rPr>
              <a:t>ICs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922703" y="4629150"/>
            <a:ext cx="4161790" cy="156908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1143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endParaRPr sz="3000">
              <a:latin typeface="Times New Roman"/>
              <a:cs typeface="Times New Roman"/>
            </a:endParaRPr>
          </a:p>
          <a:p>
            <a:pPr marL="1216025">
              <a:lnSpc>
                <a:spcPct val="100000"/>
              </a:lnSpc>
            </a:pPr>
            <a:r>
              <a:rPr dirty="0" sz="3000" spc="-10" b="1">
                <a:latin typeface="Tahoma"/>
                <a:cs typeface="Tahoma"/>
              </a:rPr>
              <a:t>complete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1725" y="6388646"/>
            <a:ext cx="7100570" cy="2124075"/>
          </a:xfrm>
          <a:prstGeom prst="rect">
            <a:avLst/>
          </a:prstGeom>
          <a:solidFill>
            <a:srgbClr val="DECCFF"/>
          </a:solidFill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3000">
              <a:latin typeface="Times New Roman"/>
              <a:cs typeface="Times New Roman"/>
            </a:endParaRPr>
          </a:p>
          <a:p>
            <a:pPr marL="1746885" marR="551815" indent="-1188085">
              <a:lnSpc>
                <a:spcPct val="116700"/>
              </a:lnSpc>
              <a:spcBef>
                <a:spcPts val="5"/>
              </a:spcBef>
            </a:pPr>
            <a:r>
              <a:rPr dirty="0" sz="3000" spc="-35" b="1">
                <a:latin typeface="Tahoma"/>
                <a:cs typeface="Tahoma"/>
              </a:rPr>
              <a:t>autonomous</a:t>
            </a:r>
            <a:r>
              <a:rPr dirty="0" sz="3000" spc="-17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navigation,</a:t>
            </a:r>
            <a:r>
              <a:rPr dirty="0" sz="3000" spc="-165" b="1">
                <a:latin typeface="Tahoma"/>
                <a:cs typeface="Tahoma"/>
              </a:rPr>
              <a:t> </a:t>
            </a:r>
            <a:r>
              <a:rPr dirty="0" sz="3000" spc="-45" b="1">
                <a:latin typeface="Tahoma"/>
                <a:cs typeface="Tahoma"/>
              </a:rPr>
              <a:t>control </a:t>
            </a:r>
            <a:r>
              <a:rPr dirty="0" sz="3000" b="1">
                <a:latin typeface="Tahoma"/>
                <a:cs typeface="Tahoma"/>
              </a:rPr>
              <a:t>and</a:t>
            </a:r>
            <a:r>
              <a:rPr dirty="0" sz="3000" spc="-85" b="1">
                <a:latin typeface="Tahoma"/>
                <a:cs typeface="Tahoma"/>
              </a:rPr>
              <a:t> </a:t>
            </a:r>
            <a:r>
              <a:rPr dirty="0" sz="3000" spc="-90" b="1">
                <a:latin typeface="Tahoma"/>
                <a:cs typeface="Tahoma"/>
              </a:rPr>
              <a:t>object</a:t>
            </a:r>
            <a:r>
              <a:rPr dirty="0" sz="3000" spc="-8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retireval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22703" y="6388646"/>
            <a:ext cx="4161790" cy="212407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400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0"/>
              </a:spcBef>
            </a:pPr>
            <a:endParaRPr sz="3000">
              <a:latin typeface="Times New Roman"/>
              <a:cs typeface="Times New Roman"/>
            </a:endParaRPr>
          </a:p>
          <a:p>
            <a:pPr marL="1040765">
              <a:lnSpc>
                <a:spcPct val="100000"/>
              </a:lnSpc>
            </a:pPr>
            <a:r>
              <a:rPr dirty="0" sz="3000" spc="-10" b="1">
                <a:latin typeface="Tahoma"/>
                <a:cs typeface="Tahoma"/>
              </a:rPr>
              <a:t>incomplete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274705" y="6388646"/>
            <a:ext cx="5701030" cy="2124075"/>
          </a:xfrm>
          <a:prstGeom prst="rect">
            <a:avLst/>
          </a:prstGeom>
          <a:solidFill>
            <a:srgbClr val="ECE3FF"/>
          </a:solidFill>
        </p:spPr>
        <p:txBody>
          <a:bodyPr wrap="square" lIns="0" tIns="227965" rIns="0" bIns="0" rtlCol="0" vert="horz">
            <a:spAutoFit/>
          </a:bodyPr>
          <a:lstStyle/>
          <a:p>
            <a:pPr algn="ctr" marL="456565" marR="448945" indent="-635">
              <a:lnSpc>
                <a:spcPct val="116700"/>
              </a:lnSpc>
              <a:spcBef>
                <a:spcPts val="1795"/>
              </a:spcBef>
            </a:pPr>
            <a:r>
              <a:rPr dirty="0" sz="3000" b="1">
                <a:latin typeface="Tahoma"/>
                <a:cs typeface="Tahoma"/>
              </a:rPr>
              <a:t>manual</a:t>
            </a:r>
            <a:r>
              <a:rPr dirty="0" sz="3000" spc="-120" b="1">
                <a:latin typeface="Tahoma"/>
                <a:cs typeface="Tahoma"/>
              </a:rPr>
              <a:t> </a:t>
            </a:r>
            <a:r>
              <a:rPr dirty="0" sz="3000" spc="-60" b="1">
                <a:latin typeface="Tahoma"/>
                <a:cs typeface="Tahoma"/>
              </a:rPr>
              <a:t>control</a:t>
            </a:r>
            <a:r>
              <a:rPr dirty="0" sz="3000" spc="-110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algorithm complex,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and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45" b="1">
                <a:latin typeface="Tahoma"/>
                <a:cs typeface="Tahoma"/>
              </a:rPr>
              <a:t>more</a:t>
            </a:r>
            <a:r>
              <a:rPr dirty="0" sz="3000" spc="-130" b="1">
                <a:latin typeface="Tahoma"/>
                <a:cs typeface="Tahoma"/>
              </a:rPr>
              <a:t> </a:t>
            </a:r>
            <a:r>
              <a:rPr dirty="0" sz="3000" spc="-45" b="1">
                <a:latin typeface="Tahoma"/>
                <a:cs typeface="Tahoma"/>
              </a:rPr>
              <a:t>costly </a:t>
            </a:r>
            <a:r>
              <a:rPr dirty="0" sz="3000" spc="-55" b="1">
                <a:latin typeface="Tahoma"/>
                <a:cs typeface="Tahoma"/>
              </a:rPr>
              <a:t>sensors</a:t>
            </a:r>
            <a:r>
              <a:rPr dirty="0" sz="3000" spc="-165" b="1">
                <a:latin typeface="Tahoma"/>
                <a:cs typeface="Tahoma"/>
              </a:rPr>
              <a:t> </a:t>
            </a:r>
            <a:r>
              <a:rPr dirty="0" sz="3000" spc="-10" b="1">
                <a:latin typeface="Tahoma"/>
                <a:cs typeface="Tahoma"/>
              </a:rPr>
              <a:t>required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1028700" y="2099151"/>
            <a:ext cx="4369435" cy="0"/>
          </a:xfrm>
          <a:custGeom>
            <a:avLst/>
            <a:gdLst/>
            <a:ahLst/>
            <a:cxnLst/>
            <a:rect l="l" t="t" r="r" b="b"/>
            <a:pathLst>
              <a:path w="4369435" h="0">
                <a:moveTo>
                  <a:pt x="0" y="0"/>
                </a:moveTo>
                <a:lnTo>
                  <a:pt x="436930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3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STATUS</a:t>
            </a:r>
            <a:r>
              <a:rPr dirty="0" sz="6000" spc="740"/>
              <a:t> </a:t>
            </a:r>
            <a:r>
              <a:rPr dirty="0" sz="6000"/>
              <a:t>OF</a:t>
            </a:r>
            <a:r>
              <a:rPr dirty="0" sz="6000" spc="740"/>
              <a:t> </a:t>
            </a:r>
            <a:r>
              <a:rPr dirty="0" sz="6000" spc="-10"/>
              <a:t>PROJECT</a:t>
            </a:r>
            <a:endParaRPr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4956" y="2464405"/>
            <a:ext cx="9020189" cy="6095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9957" y="415931"/>
            <a:ext cx="7617459" cy="1701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2545" marR="5080" indent="-30480">
              <a:lnSpc>
                <a:spcPts val="6000"/>
              </a:lnSpc>
              <a:spcBef>
                <a:spcPts val="1300"/>
              </a:spcBef>
            </a:pPr>
            <a:r>
              <a:rPr dirty="0" sz="6000" spc="180" b="1">
                <a:latin typeface="Tahoma"/>
                <a:cs typeface="Tahoma"/>
              </a:rPr>
              <a:t>PHOTOGRAPHS</a:t>
            </a:r>
            <a:r>
              <a:rPr dirty="0" sz="6000" spc="765" b="1">
                <a:latin typeface="Tahoma"/>
                <a:cs typeface="Tahoma"/>
              </a:rPr>
              <a:t> </a:t>
            </a:r>
            <a:r>
              <a:rPr dirty="0" sz="6000" spc="-25" b="1">
                <a:latin typeface="Tahoma"/>
                <a:cs typeface="Tahoma"/>
              </a:rPr>
              <a:t>OF </a:t>
            </a:r>
            <a:r>
              <a:rPr dirty="0" sz="6000" spc="85" b="1">
                <a:latin typeface="Tahoma"/>
                <a:cs typeface="Tahoma"/>
              </a:rPr>
              <a:t>FINAL</a:t>
            </a:r>
            <a:r>
              <a:rPr dirty="0" sz="6000" spc="755" b="1">
                <a:latin typeface="Tahoma"/>
                <a:cs typeface="Tahoma"/>
              </a:rPr>
              <a:t> </a:t>
            </a:r>
            <a:r>
              <a:rPr dirty="0" sz="6000" spc="85" b="1">
                <a:latin typeface="Tahoma"/>
                <a:cs typeface="Tahoma"/>
              </a:rPr>
              <a:t>PROTOTYPE</a:t>
            </a:r>
            <a:endParaRPr sz="6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320801"/>
            <a:ext cx="6953249" cy="32384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9126" y="9355104"/>
            <a:ext cx="191485" cy="1900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848" y="9355104"/>
            <a:ext cx="191484" cy="1900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1116" y="9355104"/>
            <a:ext cx="191486" cy="190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58840" y="9355104"/>
            <a:ext cx="191486" cy="190056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307302" y="2095504"/>
            <a:ext cx="7675245" cy="76835"/>
          </a:xfrm>
          <a:custGeom>
            <a:avLst/>
            <a:gdLst/>
            <a:ahLst/>
            <a:cxnLst/>
            <a:rect l="l" t="t" r="r" b="b"/>
            <a:pathLst>
              <a:path w="7675245" h="76835">
                <a:moveTo>
                  <a:pt x="0" y="76343"/>
                </a:moveTo>
                <a:lnTo>
                  <a:pt x="767489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2464405"/>
            <a:ext cx="6953249" cy="25241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8488" y="938874"/>
            <a:ext cx="13501369" cy="7573009"/>
            <a:chOff x="498488" y="938874"/>
            <a:chExt cx="13501369" cy="757300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488" y="1354082"/>
              <a:ext cx="12677759" cy="690380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824636" y="4351474"/>
              <a:ext cx="2978150" cy="4141470"/>
            </a:xfrm>
            <a:custGeom>
              <a:avLst/>
              <a:gdLst/>
              <a:ahLst/>
              <a:cxnLst/>
              <a:rect l="l" t="t" r="r" b="b"/>
              <a:pathLst>
                <a:path w="2978150" h="4141470">
                  <a:moveTo>
                    <a:pt x="0" y="0"/>
                  </a:moveTo>
                  <a:lnTo>
                    <a:pt x="2978026" y="414096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11775" y="8397211"/>
              <a:ext cx="93345" cy="95250"/>
            </a:xfrm>
            <a:custGeom>
              <a:avLst/>
              <a:gdLst/>
              <a:ahLst/>
              <a:cxnLst/>
              <a:rect l="l" t="t" r="r" b="b"/>
              <a:pathLst>
                <a:path w="93345" h="95250">
                  <a:moveTo>
                    <a:pt x="92795" y="0"/>
                  </a:moveTo>
                  <a:lnTo>
                    <a:pt x="90887" y="95230"/>
                  </a:lnTo>
                  <a:lnTo>
                    <a:pt x="0" y="6673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13258" y="2536810"/>
              <a:ext cx="6046470" cy="1594485"/>
            </a:xfrm>
            <a:custGeom>
              <a:avLst/>
              <a:gdLst/>
              <a:ahLst/>
              <a:cxnLst/>
              <a:rect l="l" t="t" r="r" b="b"/>
              <a:pathLst>
                <a:path w="6046469" h="1594485">
                  <a:moveTo>
                    <a:pt x="0" y="1594215"/>
                  </a:moveTo>
                  <a:lnTo>
                    <a:pt x="604596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870969" y="2500977"/>
              <a:ext cx="88265" cy="111125"/>
            </a:xfrm>
            <a:custGeom>
              <a:avLst/>
              <a:gdLst/>
              <a:ahLst/>
              <a:cxnLst/>
              <a:rect l="l" t="t" r="r" b="b"/>
              <a:pathLst>
                <a:path w="88265" h="111125">
                  <a:moveTo>
                    <a:pt x="0" y="0"/>
                  </a:moveTo>
                  <a:lnTo>
                    <a:pt x="88253" y="35832"/>
                  </a:lnTo>
                  <a:lnTo>
                    <a:pt x="29142" y="11052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176276" y="3840053"/>
              <a:ext cx="1792605" cy="3164205"/>
            </a:xfrm>
            <a:custGeom>
              <a:avLst/>
              <a:gdLst/>
              <a:ahLst/>
              <a:cxnLst/>
              <a:rect l="l" t="t" r="r" b="b"/>
              <a:pathLst>
                <a:path w="1792605" h="3164204">
                  <a:moveTo>
                    <a:pt x="0" y="0"/>
                  </a:moveTo>
                  <a:lnTo>
                    <a:pt x="1791976" y="316403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880973" y="6909618"/>
              <a:ext cx="99695" cy="94615"/>
            </a:xfrm>
            <a:custGeom>
              <a:avLst/>
              <a:gdLst/>
              <a:ahLst/>
              <a:cxnLst/>
              <a:rect l="l" t="t" r="r" b="b"/>
              <a:pathLst>
                <a:path w="99694" h="94615">
                  <a:moveTo>
                    <a:pt x="99456" y="0"/>
                  </a:moveTo>
                  <a:lnTo>
                    <a:pt x="87280" y="94468"/>
                  </a:lnTo>
                  <a:lnTo>
                    <a:pt x="0" y="5632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31883" y="975651"/>
              <a:ext cx="4845050" cy="2378710"/>
            </a:xfrm>
            <a:custGeom>
              <a:avLst/>
              <a:gdLst/>
              <a:ahLst/>
              <a:cxnLst/>
              <a:rect l="l" t="t" r="r" b="b"/>
              <a:pathLst>
                <a:path w="4845050" h="2378710">
                  <a:moveTo>
                    <a:pt x="0" y="2378186"/>
                  </a:moveTo>
                  <a:lnTo>
                    <a:pt x="484504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183340" y="957924"/>
              <a:ext cx="93980" cy="102870"/>
            </a:xfrm>
            <a:custGeom>
              <a:avLst/>
              <a:gdLst/>
              <a:ahLst/>
              <a:cxnLst/>
              <a:rect l="l" t="t" r="r" b="b"/>
              <a:pathLst>
                <a:path w="93979" h="102869">
                  <a:moveTo>
                    <a:pt x="0" y="0"/>
                  </a:moveTo>
                  <a:lnTo>
                    <a:pt x="93585" y="17726"/>
                  </a:lnTo>
                  <a:lnTo>
                    <a:pt x="50364" y="10260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921152" y="8485668"/>
            <a:ext cx="10306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60">
                <a:latin typeface="Lucida Sans Unicode"/>
                <a:cs typeface="Lucida Sans Unicode"/>
              </a:rPr>
              <a:t>PCB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435593" y="1954145"/>
            <a:ext cx="3326129" cy="11398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981075" marR="5080" indent="-969010">
              <a:lnSpc>
                <a:spcPts val="3979"/>
              </a:lnSpc>
              <a:spcBef>
                <a:spcPts val="915"/>
              </a:spcBef>
            </a:pPr>
            <a:r>
              <a:rPr dirty="0" sz="4000" spc="140">
                <a:latin typeface="Lucida Sans Unicode"/>
                <a:cs typeface="Lucida Sans Unicode"/>
              </a:rPr>
              <a:t>CONTINUUM </a:t>
            </a:r>
            <a:r>
              <a:rPr dirty="0" sz="4000" spc="190">
                <a:latin typeface="Lucida Sans Unicode"/>
                <a:cs typeface="Lucida Sans Unicode"/>
              </a:rPr>
              <a:t>LINKS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972813" y="7406722"/>
            <a:ext cx="409067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4000" spc="204">
                <a:latin typeface="Lucida Sans Unicode"/>
                <a:cs typeface="Lucida Sans Unicode"/>
              </a:rPr>
              <a:t>E</a:t>
            </a:r>
            <a:r>
              <a:rPr dirty="0" sz="4000">
                <a:latin typeface="Lucida Sans Unicode"/>
                <a:cs typeface="Lucida Sans Unicode"/>
              </a:rPr>
              <a:t>N</a:t>
            </a:r>
            <a:r>
              <a:rPr dirty="0" baseline="54861" sz="6000" spc="-3629">
                <a:latin typeface="Lucida Sans Unicode"/>
                <a:cs typeface="Lucida Sans Unicode"/>
              </a:rPr>
              <a:t>T</a:t>
            </a:r>
            <a:r>
              <a:rPr dirty="0" sz="4000" spc="-730">
                <a:latin typeface="Lucida Sans Unicode"/>
                <a:cs typeface="Lucida Sans Unicode"/>
              </a:rPr>
              <a:t>D</a:t>
            </a:r>
            <a:r>
              <a:rPr dirty="0" baseline="54861" sz="6000" spc="-2137">
                <a:latin typeface="Lucida Sans Unicode"/>
                <a:cs typeface="Lucida Sans Unicode"/>
              </a:rPr>
              <a:t>E</a:t>
            </a:r>
            <a:r>
              <a:rPr dirty="0" sz="4000" spc="-254">
                <a:latin typeface="Lucida Sans Unicode"/>
                <a:cs typeface="Lucida Sans Unicode"/>
              </a:rPr>
              <a:t>-</a:t>
            </a:r>
            <a:r>
              <a:rPr dirty="0" baseline="54861" sz="6000" spc="-3690">
                <a:latin typeface="Lucida Sans Unicode"/>
                <a:cs typeface="Lucida Sans Unicode"/>
              </a:rPr>
              <a:t>N</a:t>
            </a:r>
            <a:r>
              <a:rPr dirty="0" sz="4000" spc="415">
                <a:latin typeface="Lucida Sans Unicode"/>
                <a:cs typeface="Lucida Sans Unicode"/>
              </a:rPr>
              <a:t>E</a:t>
            </a:r>
            <a:r>
              <a:rPr dirty="0" sz="4000" spc="-1755">
                <a:latin typeface="Lucida Sans Unicode"/>
                <a:cs typeface="Lucida Sans Unicode"/>
              </a:rPr>
              <a:t>F</a:t>
            </a:r>
            <a:r>
              <a:rPr dirty="0" baseline="54861" sz="6000" spc="142">
                <a:latin typeface="Lucida Sans Unicode"/>
                <a:cs typeface="Lucida Sans Unicode"/>
              </a:rPr>
              <a:t>T</a:t>
            </a:r>
            <a:r>
              <a:rPr dirty="0" baseline="54861" sz="6000" spc="-202">
                <a:latin typeface="Lucida Sans Unicode"/>
                <a:cs typeface="Lucida Sans Unicode"/>
              </a:rPr>
              <a:t>A</a:t>
            </a:r>
            <a:r>
              <a:rPr dirty="0" sz="4000" spc="-4475">
                <a:latin typeface="Lucida Sans Unicode"/>
                <a:cs typeface="Lucida Sans Unicode"/>
              </a:rPr>
              <a:t>E</a:t>
            </a:r>
            <a:r>
              <a:rPr dirty="0" sz="4000" spc="95">
                <a:latin typeface="Lucida Sans Unicode"/>
                <a:cs typeface="Lucida Sans Unicode"/>
              </a:rPr>
              <a:t>F</a:t>
            </a:r>
            <a:r>
              <a:rPr dirty="0" sz="4000" spc="1000">
                <a:latin typeface="Lucida Sans Unicode"/>
                <a:cs typeface="Lucida Sans Unicode"/>
              </a:rPr>
              <a:t> </a:t>
            </a:r>
            <a:r>
              <a:rPr dirty="0" baseline="54861" sz="6000" spc="-1237">
                <a:latin typeface="Lucida Sans Unicode"/>
                <a:cs typeface="Lucida Sans Unicode"/>
              </a:rPr>
              <a:t>C</a:t>
            </a:r>
            <a:r>
              <a:rPr dirty="0" sz="4000" spc="-2510">
                <a:latin typeface="Lucida Sans Unicode"/>
                <a:cs typeface="Lucida Sans Unicode"/>
              </a:rPr>
              <a:t>C</a:t>
            </a:r>
            <a:r>
              <a:rPr dirty="0" baseline="54861" sz="6000" spc="-555">
                <a:latin typeface="Lucida Sans Unicode"/>
                <a:cs typeface="Lucida Sans Unicode"/>
              </a:rPr>
              <a:t>L</a:t>
            </a:r>
            <a:r>
              <a:rPr dirty="0" sz="4000" spc="-2695">
                <a:latin typeface="Lucida Sans Unicode"/>
                <a:cs typeface="Lucida Sans Unicode"/>
              </a:rPr>
              <a:t>T</a:t>
            </a:r>
            <a:r>
              <a:rPr dirty="0" baseline="54861" sz="6000" spc="-802">
                <a:latin typeface="Lucida Sans Unicode"/>
                <a:cs typeface="Lucida Sans Unicode"/>
              </a:rPr>
              <a:t>E</a:t>
            </a:r>
            <a:r>
              <a:rPr dirty="0" sz="4000" spc="-85">
                <a:latin typeface="Lucida Sans Unicode"/>
                <a:cs typeface="Lucida Sans Unicode"/>
              </a:rPr>
              <a:t>O</a:t>
            </a:r>
            <a:r>
              <a:rPr dirty="0" sz="4000" spc="-415">
                <a:latin typeface="Lucida Sans Unicode"/>
                <a:cs typeface="Lucida Sans Unicode"/>
              </a:rPr>
              <a:t>R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78580" y="338666"/>
            <a:ext cx="32308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10">
                <a:latin typeface="Lucida Sans Unicode"/>
                <a:cs typeface="Lucida Sans Unicode"/>
              </a:rPr>
              <a:t>LEADSCREW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628684" y="1060557"/>
            <a:ext cx="1065530" cy="2312670"/>
            <a:chOff x="2628684" y="1060557"/>
            <a:chExt cx="1065530" cy="2312670"/>
          </a:xfrm>
        </p:grpSpPr>
        <p:sp>
          <p:nvSpPr>
            <p:cNvPr id="17" name="object 17" descr=""/>
            <p:cNvSpPr/>
            <p:nvPr/>
          </p:nvSpPr>
          <p:spPr>
            <a:xfrm>
              <a:off x="2669184" y="1079607"/>
              <a:ext cx="1005840" cy="2274570"/>
            </a:xfrm>
            <a:custGeom>
              <a:avLst/>
              <a:gdLst/>
              <a:ahLst/>
              <a:cxnLst/>
              <a:rect l="l" t="t" r="r" b="b"/>
              <a:pathLst>
                <a:path w="1005839" h="2274570">
                  <a:moveTo>
                    <a:pt x="1005655" y="227417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647734" y="1079607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4">
                  <a:moveTo>
                    <a:pt x="0" y="92803"/>
                  </a:moveTo>
                  <a:lnTo>
                    <a:pt x="21450" y="0"/>
                  </a:lnTo>
                  <a:lnTo>
                    <a:pt x="104535" y="4657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670202" y="-71184"/>
            <a:ext cx="19831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75">
                <a:latin typeface="Lucida Sans Unicode"/>
                <a:cs typeface="Lucida Sans Unicode"/>
              </a:rPr>
              <a:t>PILLOW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70616" y="433640"/>
            <a:ext cx="238188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25">
                <a:latin typeface="Lucida Sans Unicode"/>
                <a:cs typeface="Lucida Sans Unicode"/>
              </a:rPr>
              <a:t>BEARING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285774" y="5632720"/>
            <a:ext cx="688975" cy="2875915"/>
            <a:chOff x="3285774" y="5632720"/>
            <a:chExt cx="688975" cy="2875915"/>
          </a:xfrm>
        </p:grpSpPr>
        <p:sp>
          <p:nvSpPr>
            <p:cNvPr id="22" name="object 22" descr=""/>
            <p:cNvSpPr/>
            <p:nvPr/>
          </p:nvSpPr>
          <p:spPr>
            <a:xfrm>
              <a:off x="3304824" y="5651770"/>
              <a:ext cx="611505" cy="2837815"/>
            </a:xfrm>
            <a:custGeom>
              <a:avLst/>
              <a:gdLst/>
              <a:ahLst/>
              <a:cxnLst/>
              <a:rect l="l" t="t" r="r" b="b"/>
              <a:pathLst>
                <a:path w="611504" h="2837815">
                  <a:moveTo>
                    <a:pt x="0" y="0"/>
                  </a:moveTo>
                  <a:lnTo>
                    <a:pt x="610894" y="283751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43811" y="8402766"/>
              <a:ext cx="111760" cy="86995"/>
            </a:xfrm>
            <a:custGeom>
              <a:avLst/>
              <a:gdLst/>
              <a:ahLst/>
              <a:cxnLst/>
              <a:rect l="l" t="t" r="r" b="b"/>
              <a:pathLst>
                <a:path w="111760" h="86995">
                  <a:moveTo>
                    <a:pt x="111739" y="0"/>
                  </a:moveTo>
                  <a:lnTo>
                    <a:pt x="71907" y="86521"/>
                  </a:lnTo>
                  <a:lnTo>
                    <a:pt x="0" y="2405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034983" y="8485668"/>
            <a:ext cx="27940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15">
                <a:latin typeface="Lucida Sans Unicode"/>
                <a:cs typeface="Lucida Sans Unicode"/>
              </a:rPr>
              <a:t>COUPLERS</a:t>
            </a:r>
            <a:endParaRPr sz="4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26" y="9355104"/>
            <a:ext cx="191485" cy="1900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848" y="9355104"/>
            <a:ext cx="191484" cy="1900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116" y="9355104"/>
            <a:ext cx="191486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8840" y="9355104"/>
            <a:ext cx="191486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75361" y="967228"/>
            <a:ext cx="191485" cy="1900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33083" y="967228"/>
            <a:ext cx="191484" cy="1900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57352" y="967228"/>
            <a:ext cx="191486" cy="190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15076" y="967228"/>
            <a:ext cx="191486" cy="190056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498488" y="849228"/>
            <a:ext cx="13194665" cy="7656830"/>
            <a:chOff x="498488" y="849228"/>
            <a:chExt cx="13194665" cy="7656830"/>
          </a:xfrm>
        </p:grpSpPr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8488" y="1354082"/>
              <a:ext cx="12677759" cy="690380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85970" y="2052708"/>
              <a:ext cx="3362309" cy="483869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836628" y="3832126"/>
              <a:ext cx="6834505" cy="1995805"/>
            </a:xfrm>
            <a:custGeom>
              <a:avLst/>
              <a:gdLst/>
              <a:ahLst/>
              <a:cxnLst/>
              <a:rect l="l" t="t" r="r" b="b"/>
              <a:pathLst>
                <a:path w="6834505" h="1995804">
                  <a:moveTo>
                    <a:pt x="0" y="0"/>
                  </a:moveTo>
                  <a:lnTo>
                    <a:pt x="6834218" y="1995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581681" y="5751455"/>
              <a:ext cx="89535" cy="109855"/>
            </a:xfrm>
            <a:custGeom>
              <a:avLst/>
              <a:gdLst/>
              <a:ahLst/>
              <a:cxnLst/>
              <a:rect l="l" t="t" r="r" b="b"/>
              <a:pathLst>
                <a:path w="89534" h="109854">
                  <a:moveTo>
                    <a:pt x="32037" y="0"/>
                  </a:moveTo>
                  <a:lnTo>
                    <a:pt x="89164" y="76217"/>
                  </a:lnTo>
                  <a:lnTo>
                    <a:pt x="0" y="10971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658118" y="4831450"/>
              <a:ext cx="5015865" cy="3653790"/>
            </a:xfrm>
            <a:custGeom>
              <a:avLst/>
              <a:gdLst/>
              <a:ahLst/>
              <a:cxnLst/>
              <a:rect l="l" t="t" r="r" b="b"/>
              <a:pathLst>
                <a:path w="5015865" h="3653790">
                  <a:moveTo>
                    <a:pt x="0" y="0"/>
                  </a:moveTo>
                  <a:lnTo>
                    <a:pt x="5015609" y="365368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578486" y="8394071"/>
              <a:ext cx="95250" cy="92710"/>
            </a:xfrm>
            <a:custGeom>
              <a:avLst/>
              <a:gdLst/>
              <a:ahLst/>
              <a:cxnLst/>
              <a:rect l="l" t="t" r="r" b="b"/>
              <a:pathLst>
                <a:path w="95250" h="92709">
                  <a:moveTo>
                    <a:pt x="67299" y="0"/>
                  </a:moveTo>
                  <a:lnTo>
                    <a:pt x="95240" y="91059"/>
                  </a:lnTo>
                  <a:lnTo>
                    <a:pt x="0" y="9238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2194792" y="1372350"/>
              <a:ext cx="913765" cy="3174365"/>
            </a:xfrm>
            <a:custGeom>
              <a:avLst/>
              <a:gdLst/>
              <a:ahLst/>
              <a:cxnLst/>
              <a:rect l="l" t="t" r="r" b="b"/>
              <a:pathLst>
                <a:path w="913765" h="3174365">
                  <a:moveTo>
                    <a:pt x="0" y="3174283"/>
                  </a:moveTo>
                  <a:lnTo>
                    <a:pt x="913168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031972" y="1372350"/>
              <a:ext cx="109855" cy="89535"/>
            </a:xfrm>
            <a:custGeom>
              <a:avLst/>
              <a:gdLst/>
              <a:ahLst/>
              <a:cxnLst/>
              <a:rect l="l" t="t" r="r" b="b"/>
              <a:pathLst>
                <a:path w="109855" h="89534">
                  <a:moveTo>
                    <a:pt x="0" y="57430"/>
                  </a:moveTo>
                  <a:lnTo>
                    <a:pt x="75989" y="0"/>
                  </a:lnTo>
                  <a:lnTo>
                    <a:pt x="109845" y="8902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70539" y="5499646"/>
              <a:ext cx="3500120" cy="2748280"/>
            </a:xfrm>
            <a:custGeom>
              <a:avLst/>
              <a:gdLst/>
              <a:ahLst/>
              <a:cxnLst/>
              <a:rect l="l" t="t" r="r" b="b"/>
              <a:pathLst>
                <a:path w="3500120" h="2748279">
                  <a:moveTo>
                    <a:pt x="0" y="0"/>
                  </a:moveTo>
                  <a:lnTo>
                    <a:pt x="3499763" y="274772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375076" y="8155368"/>
              <a:ext cx="95250" cy="92075"/>
            </a:xfrm>
            <a:custGeom>
              <a:avLst/>
              <a:gdLst/>
              <a:ahLst/>
              <a:cxnLst/>
              <a:rect l="l" t="t" r="r" b="b"/>
              <a:pathLst>
                <a:path w="95250" h="92075">
                  <a:moveTo>
                    <a:pt x="70584" y="0"/>
                  </a:moveTo>
                  <a:lnTo>
                    <a:pt x="95226" y="92007"/>
                  </a:lnTo>
                  <a:lnTo>
                    <a:pt x="0" y="8990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64408" y="5832988"/>
              <a:ext cx="1138555" cy="2583815"/>
            </a:xfrm>
            <a:custGeom>
              <a:avLst/>
              <a:gdLst/>
              <a:ahLst/>
              <a:cxnLst/>
              <a:rect l="l" t="t" r="r" b="b"/>
              <a:pathLst>
                <a:path w="1138554" h="2583815">
                  <a:moveTo>
                    <a:pt x="0" y="0"/>
                  </a:moveTo>
                  <a:lnTo>
                    <a:pt x="1138383" y="258343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19766" y="8323647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595" y="0"/>
                  </a:moveTo>
                  <a:lnTo>
                    <a:pt x="83024" y="92775"/>
                  </a:lnTo>
                  <a:lnTo>
                    <a:pt x="0" y="460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34062" y="868278"/>
              <a:ext cx="30480" cy="2964180"/>
            </a:xfrm>
            <a:custGeom>
              <a:avLst/>
              <a:gdLst/>
              <a:ahLst/>
              <a:cxnLst/>
              <a:rect l="l" t="t" r="r" b="b"/>
              <a:pathLst>
                <a:path w="30479" h="2964179">
                  <a:moveTo>
                    <a:pt x="0" y="2963799"/>
                  </a:moveTo>
                  <a:lnTo>
                    <a:pt x="3014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106286" y="868278"/>
              <a:ext cx="114300" cy="76835"/>
            </a:xfrm>
            <a:custGeom>
              <a:avLst/>
              <a:gdLst/>
              <a:ahLst/>
              <a:cxnLst/>
              <a:rect l="l" t="t" r="r" b="b"/>
              <a:pathLst>
                <a:path w="114300" h="76834">
                  <a:moveTo>
                    <a:pt x="0" y="75614"/>
                  </a:moveTo>
                  <a:lnTo>
                    <a:pt x="57922" y="0"/>
                  </a:lnTo>
                  <a:lnTo>
                    <a:pt x="114294" y="7677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3809755" y="5255154"/>
            <a:ext cx="3806190" cy="11398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 indent="318135">
              <a:lnSpc>
                <a:spcPts val="3979"/>
              </a:lnSpc>
              <a:spcBef>
                <a:spcPts val="915"/>
              </a:spcBef>
            </a:pPr>
            <a:r>
              <a:rPr dirty="0" sz="4000" spc="290">
                <a:latin typeface="Lucida Sans Unicode"/>
                <a:cs typeface="Lucida Sans Unicode"/>
              </a:rPr>
              <a:t>BASE</a:t>
            </a:r>
            <a:r>
              <a:rPr dirty="0" sz="4000" spc="409">
                <a:latin typeface="Lucida Sans Unicode"/>
                <a:cs typeface="Lucida Sans Unicode"/>
              </a:rPr>
              <a:t> </a:t>
            </a:r>
            <a:r>
              <a:rPr dirty="0" sz="4000" spc="100">
                <a:latin typeface="Lucida Sans Unicode"/>
                <a:cs typeface="Lucida Sans Unicode"/>
              </a:rPr>
              <a:t>PLATE </a:t>
            </a:r>
            <a:r>
              <a:rPr dirty="0" sz="4000" spc="120">
                <a:latin typeface="Lucida Sans Unicode"/>
                <a:cs typeface="Lucida Sans Unicode"/>
              </a:rPr>
              <a:t>WITH</a:t>
            </a:r>
            <a:r>
              <a:rPr dirty="0" sz="4000" spc="420">
                <a:latin typeface="Lucida Sans Unicode"/>
                <a:cs typeface="Lucida Sans Unicode"/>
              </a:rPr>
              <a:t> </a:t>
            </a:r>
            <a:r>
              <a:rPr dirty="0" sz="4000" spc="75">
                <a:latin typeface="Lucida Sans Unicode"/>
                <a:cs typeface="Lucida Sans Unicode"/>
              </a:rPr>
              <a:t>MOTORS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697021" y="8170901"/>
            <a:ext cx="42862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90">
                <a:latin typeface="Lucida Sans Unicode"/>
                <a:cs typeface="Lucida Sans Unicode"/>
              </a:rPr>
              <a:t>LIMIT</a:t>
            </a:r>
            <a:r>
              <a:rPr dirty="0" sz="4000" spc="425">
                <a:latin typeface="Lucida Sans Unicode"/>
                <a:cs typeface="Lucida Sans Unicode"/>
              </a:rPr>
              <a:t> </a:t>
            </a:r>
            <a:r>
              <a:rPr dirty="0" sz="4000" spc="180">
                <a:latin typeface="Lucida Sans Unicode"/>
                <a:cs typeface="Lucida Sans Unicode"/>
              </a:rPr>
              <a:t>SWITCHES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776334" y="220639"/>
            <a:ext cx="329882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04">
                <a:latin typeface="Lucida Sans Unicode"/>
                <a:cs typeface="Lucida Sans Unicode"/>
              </a:rPr>
              <a:t>ENDOSCOPE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311220" y="725464"/>
            <a:ext cx="222948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25">
                <a:latin typeface="Lucida Sans Unicode"/>
                <a:cs typeface="Lucida Sans Unicode"/>
              </a:rPr>
              <a:t>CAMERA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4141967" y="220639"/>
            <a:ext cx="405066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b="0">
                <a:latin typeface="Lucida Sans Unicode"/>
                <a:cs typeface="Lucida Sans Unicode"/>
              </a:rPr>
              <a:t>MOTOR</a:t>
            </a:r>
            <a:r>
              <a:rPr dirty="0" sz="4000" spc="509" b="0">
                <a:latin typeface="Lucida Sans Unicode"/>
                <a:cs typeface="Lucida Sans Unicode"/>
              </a:rPr>
              <a:t> </a:t>
            </a:r>
            <a:r>
              <a:rPr dirty="0" sz="4000" spc="165" b="0">
                <a:latin typeface="Lucida Sans Unicode"/>
                <a:cs typeface="Lucida Sans Unicode"/>
              </a:rPr>
              <a:t>DRIVER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656860" y="8207508"/>
            <a:ext cx="31915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165">
                <a:latin typeface="Lucida Sans Unicode"/>
                <a:cs typeface="Lucida Sans Unicode"/>
              </a:rPr>
              <a:t>MASTER</a:t>
            </a:r>
            <a:r>
              <a:rPr dirty="0" sz="4000" spc="415">
                <a:latin typeface="Lucida Sans Unicode"/>
                <a:cs typeface="Lucida Sans Unicode"/>
              </a:rPr>
              <a:t> </a:t>
            </a:r>
            <a:r>
              <a:rPr dirty="0" sz="4000" spc="195">
                <a:latin typeface="Lucida Sans Unicode"/>
                <a:cs typeface="Lucida Sans Unicode"/>
              </a:rPr>
              <a:t>RPI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18361" y="8411663"/>
            <a:ext cx="32308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210">
                <a:latin typeface="Lucida Sans Unicode"/>
                <a:cs typeface="Lucida Sans Unicode"/>
              </a:rPr>
              <a:t>LEADSCREW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74544" y="8916488"/>
            <a:ext cx="19183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>
                <a:latin typeface="Lucida Sans Unicode"/>
                <a:cs typeface="Lucida Sans Unicode"/>
              </a:rPr>
              <a:t>MOTOR</a:t>
            </a:r>
            <a:endParaRPr sz="4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567" y="2171605"/>
            <a:ext cx="15859134" cy="70865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55242" y="220884"/>
            <a:ext cx="9215120" cy="1701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55395" marR="5080" indent="-1243330">
              <a:lnSpc>
                <a:spcPts val="6000"/>
              </a:lnSpc>
              <a:spcBef>
                <a:spcPts val="1300"/>
              </a:spcBef>
            </a:pPr>
            <a:r>
              <a:rPr dirty="0" sz="6000" spc="145" b="1">
                <a:latin typeface="Tahoma"/>
                <a:cs typeface="Tahoma"/>
              </a:rPr>
              <a:t>CONTINUUM</a:t>
            </a:r>
            <a:r>
              <a:rPr dirty="0" sz="6000" spc="795" b="1">
                <a:latin typeface="Tahoma"/>
                <a:cs typeface="Tahoma"/>
              </a:rPr>
              <a:t> </a:t>
            </a:r>
            <a:r>
              <a:rPr dirty="0" sz="6000" spc="50" b="1">
                <a:latin typeface="Tahoma"/>
                <a:cs typeface="Tahoma"/>
              </a:rPr>
              <a:t>BENDING </a:t>
            </a:r>
            <a:r>
              <a:rPr dirty="0" sz="6000" b="1">
                <a:latin typeface="Tahoma"/>
                <a:cs typeface="Tahoma"/>
              </a:rPr>
              <a:t>TO</a:t>
            </a:r>
            <a:r>
              <a:rPr dirty="0" sz="6000" spc="400" b="1">
                <a:latin typeface="Tahoma"/>
                <a:cs typeface="Tahoma"/>
              </a:rPr>
              <a:t> </a:t>
            </a:r>
            <a:r>
              <a:rPr dirty="0" sz="6000" b="1">
                <a:latin typeface="Tahoma"/>
                <a:cs typeface="Tahoma"/>
              </a:rPr>
              <a:t>THE</a:t>
            </a:r>
            <a:r>
              <a:rPr dirty="0" sz="6000" spc="400" b="1">
                <a:latin typeface="Tahoma"/>
                <a:cs typeface="Tahoma"/>
              </a:rPr>
              <a:t> </a:t>
            </a:r>
            <a:r>
              <a:rPr dirty="0" sz="6000" spc="-30" b="1">
                <a:latin typeface="Tahoma"/>
                <a:cs typeface="Tahoma"/>
              </a:rPr>
              <a:t>LIMIT</a:t>
            </a:r>
            <a:r>
              <a:rPr dirty="0" sz="6000" spc="400" b="1">
                <a:latin typeface="Tahoma"/>
                <a:cs typeface="Tahoma"/>
              </a:rPr>
              <a:t> </a:t>
            </a:r>
            <a:r>
              <a:rPr dirty="0" sz="6000" spc="459" b="1">
                <a:latin typeface="Tahoma"/>
                <a:cs typeface="Tahoma"/>
              </a:rPr>
              <a:t>!!!</a:t>
            </a:r>
            <a:endParaRPr sz="6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638059" cy="429249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51548" y="9447184"/>
            <a:ext cx="191485" cy="1900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9269" y="9447184"/>
            <a:ext cx="191484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33538" y="9447184"/>
            <a:ext cx="191486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91262" y="9447184"/>
            <a:ext cx="191486" cy="19005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3022529" y="1714872"/>
            <a:ext cx="53587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80" b="1">
                <a:latin typeface="Tahoma"/>
                <a:cs typeface="Tahoma"/>
              </a:rPr>
              <a:t>CHALLENGES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022529" y="2476872"/>
            <a:ext cx="474218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05" b="1">
                <a:latin typeface="Tahoma"/>
                <a:cs typeface="Tahoma"/>
              </a:rPr>
              <a:t>FACED</a:t>
            </a:r>
            <a:r>
              <a:rPr dirty="0" sz="6000" spc="765" b="1">
                <a:latin typeface="Tahoma"/>
                <a:cs typeface="Tahoma"/>
              </a:rPr>
              <a:t> </a:t>
            </a:r>
            <a:r>
              <a:rPr dirty="0" sz="6000" spc="245" b="1">
                <a:latin typeface="Tahoma"/>
                <a:cs typeface="Tahoma"/>
              </a:rPr>
              <a:t>AND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022529" y="3238872"/>
            <a:ext cx="35255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latin typeface="Tahoma"/>
                <a:cs typeface="Tahoma"/>
              </a:rPr>
              <a:t>HOW</a:t>
            </a:r>
            <a:r>
              <a:rPr dirty="0" sz="6000" spc="765" b="1">
                <a:latin typeface="Tahoma"/>
                <a:cs typeface="Tahoma"/>
              </a:rPr>
              <a:t> </a:t>
            </a:r>
            <a:r>
              <a:rPr dirty="0" sz="6000" spc="-80" b="1">
                <a:latin typeface="Tahoma"/>
                <a:cs typeface="Tahoma"/>
              </a:rPr>
              <a:t>WE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022529" y="4000872"/>
            <a:ext cx="31978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10" b="1">
                <a:latin typeface="Tahoma"/>
                <a:cs typeface="Tahoma"/>
              </a:rPr>
              <a:t>SOLVED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022529" y="4762872"/>
            <a:ext cx="22885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75" b="1">
                <a:latin typeface="Tahoma"/>
                <a:cs typeface="Tahoma"/>
              </a:rPr>
              <a:t>THEM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0"/>
            <a:ext cx="3507740" cy="1381125"/>
          </a:xfrm>
          <a:custGeom>
            <a:avLst/>
            <a:gdLst/>
            <a:ahLst/>
            <a:cxnLst/>
            <a:rect l="l" t="t" r="r" b="b"/>
            <a:pathLst>
              <a:path w="3507740" h="1381125">
                <a:moveTo>
                  <a:pt x="3507571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507571" y="0"/>
                </a:lnTo>
                <a:lnTo>
                  <a:pt x="3507571" y="1381125"/>
                </a:lnTo>
                <a:close/>
              </a:path>
            </a:pathLst>
          </a:custGeom>
          <a:solidFill>
            <a:srgbClr val="32B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6254" y="339820"/>
            <a:ext cx="311531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5"/>
              <a:t>Challenges</a:t>
            </a:r>
            <a:endParaRPr sz="4500"/>
          </a:p>
        </p:txBody>
      </p:sp>
      <p:sp>
        <p:nvSpPr>
          <p:cNvPr id="14" name="object 14" descr=""/>
          <p:cNvSpPr txBox="1"/>
          <p:nvPr/>
        </p:nvSpPr>
        <p:spPr>
          <a:xfrm>
            <a:off x="3698071" y="0"/>
            <a:ext cx="4920615" cy="1381125"/>
          </a:xfrm>
          <a:prstGeom prst="rect">
            <a:avLst/>
          </a:prstGeom>
          <a:solidFill>
            <a:srgbClr val="32BFDF"/>
          </a:solidFill>
        </p:spPr>
        <p:txBody>
          <a:bodyPr wrap="square" lIns="0" tIns="3524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75"/>
              </a:spcBef>
            </a:pPr>
            <a:r>
              <a:rPr dirty="0" sz="4500" spc="-10" b="1">
                <a:latin typeface="Tahoma"/>
                <a:cs typeface="Tahoma"/>
              </a:rPr>
              <a:t>Solutions</a:t>
            </a:r>
            <a:endParaRPr sz="4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808625" y="0"/>
            <a:ext cx="3829050" cy="1381125"/>
          </a:xfrm>
          <a:prstGeom prst="rect">
            <a:avLst/>
          </a:prstGeom>
          <a:solidFill>
            <a:srgbClr val="32BFDF"/>
          </a:solidFill>
        </p:spPr>
        <p:txBody>
          <a:bodyPr wrap="square" lIns="0" tIns="352425" rIns="0" bIns="0" rtlCol="0" vert="horz">
            <a:spAutoFit/>
          </a:bodyPr>
          <a:lstStyle/>
          <a:p>
            <a:pPr marL="703580">
              <a:lnSpc>
                <a:spcPct val="100000"/>
              </a:lnSpc>
              <a:spcBef>
                <a:spcPts val="2775"/>
              </a:spcBef>
            </a:pPr>
            <a:r>
              <a:rPr dirty="0" sz="4500" spc="-10" b="1">
                <a:latin typeface="Tahoma"/>
                <a:cs typeface="Tahoma"/>
              </a:rPr>
              <a:t>Remarks</a:t>
            </a:r>
            <a:endParaRPr sz="4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0" y="1571624"/>
            <a:ext cx="3507740" cy="142621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828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40"/>
              </a:spcBef>
            </a:pPr>
            <a:endParaRPr sz="2400">
              <a:latin typeface="Times New Roman"/>
              <a:cs typeface="Times New Roman"/>
            </a:endParaRPr>
          </a:p>
          <a:p>
            <a:pPr marL="806450">
              <a:lnSpc>
                <a:spcPct val="100000"/>
              </a:lnSpc>
            </a:pPr>
            <a:r>
              <a:rPr dirty="0" sz="2400" b="1">
                <a:latin typeface="Tahoma"/>
                <a:cs typeface="Tahoma"/>
              </a:rPr>
              <a:t>spool</a:t>
            </a:r>
            <a:r>
              <a:rPr dirty="0" sz="2400" spc="-17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design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698071" y="1571624"/>
            <a:ext cx="4920615" cy="142621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270510" rIns="0" bIns="0" rtlCol="0" vert="horz">
            <a:spAutoFit/>
          </a:bodyPr>
          <a:lstStyle/>
          <a:p>
            <a:pPr marL="229235" marR="222250" indent="44450">
              <a:lnSpc>
                <a:spcPct val="114599"/>
              </a:lnSpc>
              <a:spcBef>
                <a:spcPts val="2130"/>
              </a:spcBef>
            </a:pPr>
            <a:r>
              <a:rPr dirty="0" sz="2400" spc="-35" b="1">
                <a:latin typeface="Tahoma"/>
                <a:cs typeface="Tahoma"/>
              </a:rPr>
              <a:t>multiple</a:t>
            </a:r>
            <a:r>
              <a:rPr dirty="0" sz="2400" spc="-105" b="1">
                <a:latin typeface="Tahoma"/>
                <a:cs typeface="Tahoma"/>
              </a:rPr>
              <a:t> </a:t>
            </a:r>
            <a:r>
              <a:rPr dirty="0" sz="2400" spc="-55" b="1">
                <a:latin typeface="Tahoma"/>
                <a:cs typeface="Tahoma"/>
              </a:rPr>
              <a:t>iterations,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130" b="1">
                <a:latin typeface="Tahoma"/>
                <a:cs typeface="Tahoma"/>
              </a:rPr>
              <a:t>2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winding </a:t>
            </a:r>
            <a:r>
              <a:rPr dirty="0" sz="2400" b="1">
                <a:latin typeface="Tahoma"/>
                <a:cs typeface="Tahoma"/>
              </a:rPr>
              <a:t>spool</a:t>
            </a:r>
            <a:r>
              <a:rPr dirty="0" sz="2400" spc="-155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with</a:t>
            </a:r>
            <a:r>
              <a:rPr dirty="0" sz="2400" spc="-114" b="1">
                <a:latin typeface="Tahoma"/>
                <a:cs typeface="Tahoma"/>
              </a:rPr>
              <a:t> </a:t>
            </a:r>
            <a:r>
              <a:rPr dirty="0" sz="2400" spc="-30" b="1">
                <a:latin typeface="Tahoma"/>
                <a:cs typeface="Tahoma"/>
              </a:rPr>
              <a:t>opposite</a:t>
            </a:r>
            <a:r>
              <a:rPr dirty="0" sz="2400" spc="-135" b="1">
                <a:latin typeface="Tahoma"/>
                <a:cs typeface="Tahoma"/>
              </a:rPr>
              <a:t> </a:t>
            </a:r>
            <a:r>
              <a:rPr dirty="0" sz="2400" spc="-40" b="1">
                <a:latin typeface="Tahoma"/>
                <a:cs typeface="Tahoma"/>
              </a:rPr>
              <a:t>directions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08625" y="1571624"/>
            <a:ext cx="3829050" cy="142621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270510" rIns="0" bIns="0" rtlCol="0" vert="horz">
            <a:spAutoFit/>
          </a:bodyPr>
          <a:lstStyle/>
          <a:p>
            <a:pPr marL="581025" marR="518159" indent="-55880">
              <a:lnSpc>
                <a:spcPct val="114599"/>
              </a:lnSpc>
              <a:spcBef>
                <a:spcPts val="2130"/>
              </a:spcBef>
            </a:pPr>
            <a:r>
              <a:rPr dirty="0" sz="2400" spc="-30" b="1">
                <a:latin typeface="Tahoma"/>
                <a:cs typeface="Tahoma"/>
              </a:rPr>
              <a:t>working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45" b="1">
                <a:latin typeface="Tahoma"/>
                <a:cs typeface="Tahoma"/>
              </a:rPr>
              <a:t>but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better </a:t>
            </a:r>
            <a:r>
              <a:rPr dirty="0" sz="2400" spc="-40" b="1">
                <a:latin typeface="Tahoma"/>
                <a:cs typeface="Tahoma"/>
              </a:rPr>
              <a:t>solutions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possible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0" y="3188169"/>
            <a:ext cx="3507740" cy="186055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38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90"/>
              </a:spcBef>
            </a:pPr>
            <a:endParaRPr sz="2400">
              <a:latin typeface="Times New Roman"/>
              <a:cs typeface="Times New Roman"/>
            </a:endParaRPr>
          </a:p>
          <a:p>
            <a:pPr marL="409575" marR="402590" indent="76200">
              <a:lnSpc>
                <a:spcPct val="114599"/>
              </a:lnSpc>
              <a:spcBef>
                <a:spcPts val="5"/>
              </a:spcBef>
            </a:pPr>
            <a:r>
              <a:rPr dirty="0" sz="2400" spc="-50" b="1">
                <a:latin typeface="Tahoma"/>
                <a:cs typeface="Tahoma"/>
              </a:rPr>
              <a:t>tentacle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material </a:t>
            </a:r>
            <a:r>
              <a:rPr dirty="0" sz="2400" spc="-35" b="1">
                <a:latin typeface="Tahoma"/>
                <a:cs typeface="Tahoma"/>
              </a:rPr>
              <a:t>choice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design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98071" y="3188169"/>
            <a:ext cx="4920615" cy="186055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280035" rIns="0" bIns="0" rtlCol="0" vert="horz">
            <a:spAutoFit/>
          </a:bodyPr>
          <a:lstStyle/>
          <a:p>
            <a:pPr algn="ctr" marL="549910" marR="542290">
              <a:lnSpc>
                <a:spcPct val="114599"/>
              </a:lnSpc>
              <a:spcBef>
                <a:spcPts val="2205"/>
              </a:spcBef>
            </a:pPr>
            <a:r>
              <a:rPr dirty="0" sz="2400" b="1">
                <a:latin typeface="Tahoma"/>
                <a:cs typeface="Tahoma"/>
              </a:rPr>
              <a:t>final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design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hinge-</a:t>
            </a:r>
            <a:r>
              <a:rPr dirty="0" sz="2400" spc="-10" b="1">
                <a:latin typeface="Tahoma"/>
                <a:cs typeface="Tahoma"/>
              </a:rPr>
              <a:t>based, </a:t>
            </a:r>
            <a:r>
              <a:rPr dirty="0" sz="2400" spc="-35" b="1">
                <a:latin typeface="Tahoma"/>
                <a:cs typeface="Tahoma"/>
              </a:rPr>
              <a:t>printed</a:t>
            </a:r>
            <a:r>
              <a:rPr dirty="0" sz="2400" spc="-1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PLA,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tried</a:t>
            </a:r>
            <a:r>
              <a:rPr dirty="0" sz="2400" spc="-114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resin printing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808625" y="3188169"/>
            <a:ext cx="3829050" cy="186055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38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90"/>
              </a:spcBef>
            </a:pPr>
            <a:endParaRPr sz="2400">
              <a:latin typeface="Times New Roman"/>
              <a:cs typeface="Times New Roman"/>
            </a:endParaRPr>
          </a:p>
          <a:p>
            <a:pPr marL="1116965" marR="279400" indent="-830580">
              <a:lnSpc>
                <a:spcPct val="114599"/>
              </a:lnSpc>
              <a:spcBef>
                <a:spcPts val="5"/>
              </a:spcBef>
            </a:pPr>
            <a:r>
              <a:rPr dirty="0" sz="2400" spc="-50" b="1">
                <a:latin typeface="Tahoma"/>
                <a:cs typeface="Tahoma"/>
              </a:rPr>
              <a:t>effective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bending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and </a:t>
            </a:r>
            <a:r>
              <a:rPr dirty="0" sz="2400" spc="-10" b="1">
                <a:latin typeface="Tahoma"/>
                <a:cs typeface="Tahoma"/>
              </a:rPr>
              <a:t>movement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0" y="5238750"/>
            <a:ext cx="3507740" cy="203073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22415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64"/>
              </a:spcBef>
            </a:pPr>
            <a:endParaRPr sz="2400">
              <a:latin typeface="Times New Roman"/>
              <a:cs typeface="Times New Roman"/>
            </a:endParaRPr>
          </a:p>
          <a:p>
            <a:pPr marL="1163955" marR="269240" indent="-888365">
              <a:lnSpc>
                <a:spcPct val="114599"/>
              </a:lnSpc>
              <a:spcBef>
                <a:spcPts val="5"/>
              </a:spcBef>
            </a:pPr>
            <a:r>
              <a:rPr dirty="0" sz="2400" spc="-50" b="1">
                <a:latin typeface="Tahoma"/>
                <a:cs typeface="Tahoma"/>
              </a:rPr>
              <a:t>insufficient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ports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on </a:t>
            </a:r>
            <a:r>
              <a:rPr dirty="0" sz="2400" spc="-100" b="1">
                <a:latin typeface="Tahoma"/>
                <a:cs typeface="Tahoma"/>
              </a:rPr>
              <a:t>RPi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Pico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698071" y="5238750"/>
            <a:ext cx="4920615" cy="203073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22415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64"/>
              </a:spcBef>
            </a:pPr>
            <a:endParaRPr sz="2400">
              <a:latin typeface="Times New Roman"/>
              <a:cs typeface="Times New Roman"/>
            </a:endParaRPr>
          </a:p>
          <a:p>
            <a:pPr marL="556895" marR="549275" indent="36830">
              <a:lnSpc>
                <a:spcPct val="114599"/>
              </a:lnSpc>
              <a:spcBef>
                <a:spcPts val="5"/>
              </a:spcBef>
            </a:pPr>
            <a:r>
              <a:rPr dirty="0" sz="2400" spc="-10" b="1">
                <a:latin typeface="Tahoma"/>
                <a:cs typeface="Tahoma"/>
              </a:rPr>
              <a:t>used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35" b="1">
                <a:latin typeface="Tahoma"/>
                <a:cs typeface="Tahoma"/>
              </a:rPr>
              <a:t>port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expanders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and </a:t>
            </a:r>
            <a:r>
              <a:rPr dirty="0" sz="2400" spc="-55" b="1">
                <a:latin typeface="Tahoma"/>
                <a:cs typeface="Tahoma"/>
              </a:rPr>
              <a:t>master-</a:t>
            </a:r>
            <a:r>
              <a:rPr dirty="0" sz="2400" spc="-10" b="1">
                <a:latin typeface="Tahoma"/>
                <a:cs typeface="Tahoma"/>
              </a:rPr>
              <a:t>slave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architecture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808625" y="5238750"/>
            <a:ext cx="3829050" cy="203073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Times New Roman"/>
              <a:cs typeface="Times New Roman"/>
            </a:endParaRPr>
          </a:p>
          <a:p>
            <a:pPr algn="ctr" marL="242570" marR="235585" indent="-635">
              <a:lnSpc>
                <a:spcPct val="114599"/>
              </a:lnSpc>
              <a:spcBef>
                <a:spcPts val="5"/>
              </a:spcBef>
            </a:pPr>
            <a:r>
              <a:rPr dirty="0" sz="2400" spc="-30" b="1">
                <a:latin typeface="Tahoma"/>
                <a:cs typeface="Tahoma"/>
              </a:rPr>
              <a:t>increased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ports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spc="-135" b="1">
                <a:latin typeface="Tahoma"/>
                <a:cs typeface="Tahoma"/>
              </a:rPr>
              <a:t>(26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to </a:t>
            </a:r>
            <a:r>
              <a:rPr dirty="0" sz="2400" spc="-210" b="1">
                <a:latin typeface="Tahoma"/>
                <a:cs typeface="Tahoma"/>
              </a:rPr>
              <a:t>26+32)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spc="-75" b="1">
                <a:latin typeface="Tahoma"/>
                <a:cs typeface="Tahoma"/>
              </a:rPr>
              <a:t>better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spc="-35" b="1">
                <a:latin typeface="Tahoma"/>
                <a:cs typeface="Tahoma"/>
              </a:rPr>
              <a:t>task </a:t>
            </a:r>
            <a:r>
              <a:rPr dirty="0" sz="2400" spc="-10" b="1">
                <a:latin typeface="Tahoma"/>
                <a:cs typeface="Tahoma"/>
              </a:rPr>
              <a:t>distribution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0" y="7459446"/>
            <a:ext cx="3507740" cy="179895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003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2400">
              <a:latin typeface="Times New Roman"/>
              <a:cs typeface="Times New Roman"/>
            </a:endParaRPr>
          </a:p>
          <a:p>
            <a:pPr marL="1468120" marR="276225" indent="-1185545">
              <a:lnSpc>
                <a:spcPct val="114599"/>
              </a:lnSpc>
              <a:spcBef>
                <a:spcPts val="5"/>
              </a:spcBef>
            </a:pPr>
            <a:r>
              <a:rPr dirty="0" sz="2400" spc="-20" b="1">
                <a:latin typeface="Tahoma"/>
                <a:cs typeface="Tahoma"/>
              </a:rPr>
              <a:t>realised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50" b="1">
                <a:latin typeface="Tahoma"/>
                <a:cs typeface="Tahoma"/>
              </a:rPr>
              <a:t>torque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was </a:t>
            </a:r>
            <a:r>
              <a:rPr dirty="0" sz="2400" spc="-20" b="1">
                <a:latin typeface="Tahoma"/>
                <a:cs typeface="Tahoma"/>
              </a:rPr>
              <a:t>less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698071" y="7459446"/>
            <a:ext cx="4920615" cy="179895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003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2400">
              <a:latin typeface="Times New Roman"/>
              <a:cs typeface="Times New Roman"/>
            </a:endParaRPr>
          </a:p>
          <a:p>
            <a:pPr marL="256540" marR="186690" indent="-62865">
              <a:lnSpc>
                <a:spcPct val="114599"/>
              </a:lnSpc>
              <a:spcBef>
                <a:spcPts val="5"/>
              </a:spcBef>
            </a:pPr>
            <a:r>
              <a:rPr dirty="0" sz="2400" b="1">
                <a:latin typeface="Tahoma"/>
                <a:cs typeface="Tahoma"/>
              </a:rPr>
              <a:t>changed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50" b="1">
                <a:latin typeface="Tahoma"/>
                <a:cs typeface="Tahoma"/>
              </a:rPr>
              <a:t>routing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of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cables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and </a:t>
            </a:r>
            <a:r>
              <a:rPr dirty="0" sz="2400" spc="-35" b="1">
                <a:latin typeface="Tahoma"/>
                <a:cs typeface="Tahoma"/>
              </a:rPr>
              <a:t>brought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spc="-65" b="1">
                <a:latin typeface="Tahoma"/>
                <a:cs typeface="Tahoma"/>
              </a:rPr>
              <a:t>motors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85" b="1">
                <a:latin typeface="Tahoma"/>
                <a:cs typeface="Tahoma"/>
              </a:rPr>
              <a:t>to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base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plate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808625" y="7459446"/>
            <a:ext cx="3829050" cy="179895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40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</a:pPr>
            <a:r>
              <a:rPr dirty="0" sz="2400" spc="-50" b="1">
                <a:latin typeface="Tahoma"/>
                <a:cs typeface="Tahoma"/>
              </a:rPr>
              <a:t>getting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enough</a:t>
            </a:r>
            <a:r>
              <a:rPr dirty="0" sz="2400" spc="-114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torque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638059" cy="429249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51548" y="9447184"/>
            <a:ext cx="191485" cy="1900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9269" y="9447184"/>
            <a:ext cx="191484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33538" y="9447184"/>
            <a:ext cx="191486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91262" y="9447184"/>
            <a:ext cx="191486" cy="190056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0" y="0"/>
            <a:ext cx="3699510" cy="1381125"/>
          </a:xfrm>
          <a:custGeom>
            <a:avLst/>
            <a:gdLst/>
            <a:ahLst/>
            <a:cxnLst/>
            <a:rect l="l" t="t" r="r" b="b"/>
            <a:pathLst>
              <a:path w="3699510" h="1381125">
                <a:moveTo>
                  <a:pt x="3699424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699424" y="0"/>
                </a:lnTo>
                <a:lnTo>
                  <a:pt x="3699424" y="1381125"/>
                </a:lnTo>
                <a:close/>
              </a:path>
            </a:pathLst>
          </a:custGeom>
          <a:solidFill>
            <a:srgbClr val="32B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2248" y="339820"/>
            <a:ext cx="311531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5"/>
              <a:t>Challenges</a:t>
            </a:r>
            <a:endParaRPr sz="4500"/>
          </a:p>
        </p:txBody>
      </p:sp>
      <p:sp>
        <p:nvSpPr>
          <p:cNvPr id="9" name="object 9" descr=""/>
          <p:cNvSpPr txBox="1"/>
          <p:nvPr/>
        </p:nvSpPr>
        <p:spPr>
          <a:xfrm>
            <a:off x="3889924" y="0"/>
            <a:ext cx="4969510" cy="1381125"/>
          </a:xfrm>
          <a:prstGeom prst="rect">
            <a:avLst/>
          </a:prstGeom>
          <a:solidFill>
            <a:srgbClr val="32BFDF"/>
          </a:solidFill>
        </p:spPr>
        <p:txBody>
          <a:bodyPr wrap="square" lIns="0" tIns="3524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75"/>
              </a:spcBef>
            </a:pPr>
            <a:r>
              <a:rPr dirty="0" sz="4500" spc="-10" b="1">
                <a:latin typeface="Tahoma"/>
                <a:cs typeface="Tahoma"/>
              </a:rPr>
              <a:t>Solutions</a:t>
            </a:r>
            <a:endParaRPr sz="4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49578" y="0"/>
            <a:ext cx="3588385" cy="1381125"/>
          </a:xfrm>
          <a:prstGeom prst="rect">
            <a:avLst/>
          </a:prstGeom>
          <a:solidFill>
            <a:srgbClr val="32BFDF"/>
          </a:solidFill>
        </p:spPr>
        <p:txBody>
          <a:bodyPr wrap="square" lIns="0" tIns="352425" rIns="0" bIns="0" rtlCol="0" vert="horz">
            <a:spAutoFit/>
          </a:bodyPr>
          <a:lstStyle/>
          <a:p>
            <a:pPr marL="582930">
              <a:lnSpc>
                <a:spcPct val="100000"/>
              </a:lnSpc>
              <a:spcBef>
                <a:spcPts val="2775"/>
              </a:spcBef>
            </a:pPr>
            <a:r>
              <a:rPr dirty="0" sz="4500" spc="-10" b="1">
                <a:latin typeface="Tahoma"/>
                <a:cs typeface="Tahoma"/>
              </a:rPr>
              <a:t>Remarks</a:t>
            </a:r>
            <a:endParaRPr sz="45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0" y="1571624"/>
            <a:ext cx="3699510" cy="176403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imes New Roman"/>
              <a:cs typeface="Times New Roman"/>
            </a:endParaRPr>
          </a:p>
          <a:p>
            <a:pPr marL="1348740" marR="674370" indent="-667385">
              <a:lnSpc>
                <a:spcPct val="114599"/>
              </a:lnSpc>
              <a:spcBef>
                <a:spcPts val="5"/>
              </a:spcBef>
            </a:pPr>
            <a:r>
              <a:rPr dirty="0" sz="2400" spc="-60" b="1">
                <a:latin typeface="Tahoma"/>
                <a:cs typeface="Tahoma"/>
              </a:rPr>
              <a:t>mistakes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</a:t>
            </a:r>
            <a:r>
              <a:rPr dirty="0" sz="2400" spc="-95" b="1">
                <a:latin typeface="Tahoma"/>
                <a:cs typeface="Tahoma"/>
              </a:rPr>
              <a:t> PCB </a:t>
            </a:r>
            <a:r>
              <a:rPr dirty="0" sz="2400" spc="-10" b="1">
                <a:latin typeface="Tahoma"/>
                <a:cs typeface="Tahoma"/>
              </a:rPr>
              <a:t>design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89924" y="1571624"/>
            <a:ext cx="4969510" cy="176403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imes New Roman"/>
              <a:cs typeface="Times New Roman"/>
            </a:endParaRPr>
          </a:p>
          <a:p>
            <a:pPr marL="426084" marR="234950" indent="-183515">
              <a:lnSpc>
                <a:spcPct val="114599"/>
              </a:lnSpc>
              <a:spcBef>
                <a:spcPts val="5"/>
              </a:spcBef>
            </a:pPr>
            <a:r>
              <a:rPr dirty="0" sz="2400" spc="-35" b="1">
                <a:latin typeface="Tahoma"/>
                <a:cs typeface="Tahoma"/>
              </a:rPr>
              <a:t>fixed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using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55" b="1">
                <a:latin typeface="Tahoma"/>
                <a:cs typeface="Tahoma"/>
              </a:rPr>
              <a:t>micro-</a:t>
            </a:r>
            <a:r>
              <a:rPr dirty="0" sz="2400" spc="-30" b="1">
                <a:latin typeface="Tahoma"/>
                <a:cs typeface="Tahoma"/>
              </a:rPr>
              <a:t>surgery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and </a:t>
            </a:r>
            <a:r>
              <a:rPr dirty="0" sz="2400" spc="-35" b="1">
                <a:latin typeface="Tahoma"/>
                <a:cs typeface="Tahoma"/>
              </a:rPr>
              <a:t>removal</a:t>
            </a:r>
            <a:r>
              <a:rPr dirty="0" sz="2400" spc="-1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of</a:t>
            </a:r>
            <a:r>
              <a:rPr dirty="0" sz="2400" spc="-155" b="1">
                <a:latin typeface="Tahoma"/>
                <a:cs typeface="Tahoma"/>
              </a:rPr>
              <a:t> </a:t>
            </a:r>
            <a:r>
              <a:rPr dirty="0" sz="2400" spc="-30" b="1">
                <a:latin typeface="Tahoma"/>
                <a:cs typeface="Tahoma"/>
              </a:rPr>
              <a:t>Vsys</a:t>
            </a:r>
            <a:r>
              <a:rPr dirty="0" sz="2400" spc="-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of</a:t>
            </a:r>
            <a:r>
              <a:rPr dirty="0" sz="2400" spc="-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main</a:t>
            </a:r>
            <a:r>
              <a:rPr dirty="0" sz="2400" spc="-14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RPi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049578" y="1571624"/>
            <a:ext cx="3588385" cy="176403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imes New Roman"/>
              <a:cs typeface="Times New Roman"/>
            </a:endParaRPr>
          </a:p>
          <a:p>
            <a:pPr marL="408940" marR="401955" indent="286385">
              <a:lnSpc>
                <a:spcPct val="114599"/>
              </a:lnSpc>
              <a:spcBef>
                <a:spcPts val="5"/>
              </a:spcBef>
            </a:pPr>
            <a:r>
              <a:rPr dirty="0" sz="2400" spc="-110" b="1">
                <a:latin typeface="Tahoma"/>
                <a:cs typeface="Tahoma"/>
              </a:rPr>
              <a:t>PCB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spc="-30" b="1">
                <a:latin typeface="Tahoma"/>
                <a:cs typeface="Tahoma"/>
              </a:rPr>
              <a:t>is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working </a:t>
            </a:r>
            <a:r>
              <a:rPr dirty="0" sz="2400" spc="-70" b="1">
                <a:latin typeface="Tahoma"/>
                <a:cs typeface="Tahoma"/>
              </a:rPr>
              <a:t>without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any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spc="-45" b="1">
                <a:latin typeface="Tahoma"/>
                <a:cs typeface="Tahoma"/>
              </a:rPr>
              <a:t>issues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0" y="3525659"/>
            <a:ext cx="3699510" cy="176657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645795">
              <a:lnSpc>
                <a:spcPct val="100000"/>
              </a:lnSpc>
            </a:pPr>
            <a:r>
              <a:rPr dirty="0" sz="2400" spc="-55" b="1">
                <a:latin typeface="Tahoma"/>
                <a:cs typeface="Tahoma"/>
              </a:rPr>
              <a:t>defect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</a:t>
            </a:r>
            <a:r>
              <a:rPr dirty="0" sz="2400" spc="-114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motors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89924" y="3525659"/>
            <a:ext cx="4969510" cy="176657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imes New Roman"/>
              <a:cs typeface="Times New Roman"/>
            </a:endParaRPr>
          </a:p>
          <a:p>
            <a:pPr marL="673100" marR="610870" indent="-55244">
              <a:lnSpc>
                <a:spcPct val="114599"/>
              </a:lnSpc>
              <a:spcBef>
                <a:spcPts val="5"/>
              </a:spcBef>
            </a:pPr>
            <a:r>
              <a:rPr dirty="0" sz="2400" spc="-55" b="1">
                <a:latin typeface="Tahoma"/>
                <a:cs typeface="Tahoma"/>
              </a:rPr>
              <a:t>micro-</a:t>
            </a:r>
            <a:r>
              <a:rPr dirty="0" sz="2400" spc="-30" b="1">
                <a:latin typeface="Tahoma"/>
                <a:cs typeface="Tahoma"/>
              </a:rPr>
              <a:t>surgery</a:t>
            </a:r>
            <a:r>
              <a:rPr dirty="0" sz="2400" spc="-80" b="1">
                <a:latin typeface="Tahoma"/>
                <a:cs typeface="Tahoma"/>
              </a:rPr>
              <a:t> </a:t>
            </a:r>
            <a:r>
              <a:rPr dirty="0" sz="2400" spc="-85" b="1">
                <a:latin typeface="Tahoma"/>
                <a:cs typeface="Tahoma"/>
              </a:rPr>
              <a:t>to</a:t>
            </a:r>
            <a:r>
              <a:rPr dirty="0" sz="2400" spc="-75" b="1">
                <a:latin typeface="Tahoma"/>
                <a:cs typeface="Tahoma"/>
              </a:rPr>
              <a:t> </a:t>
            </a:r>
            <a:r>
              <a:rPr dirty="0" sz="2400" spc="-35" b="1">
                <a:latin typeface="Tahoma"/>
                <a:cs typeface="Tahoma"/>
              </a:rPr>
              <a:t>connect </a:t>
            </a:r>
            <a:r>
              <a:rPr dirty="0" sz="2400" spc="-40" b="1">
                <a:latin typeface="Tahoma"/>
                <a:cs typeface="Tahoma"/>
              </a:rPr>
              <a:t>terminals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8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connector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049578" y="3525659"/>
            <a:ext cx="3588385" cy="1766570"/>
          </a:xfrm>
          <a:prstGeom prst="rect">
            <a:avLst/>
          </a:prstGeom>
          <a:solidFill>
            <a:srgbClr val="C6E8F5"/>
          </a:solidFill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imes New Roman"/>
              <a:cs typeface="Times New Roman"/>
            </a:endParaRPr>
          </a:p>
          <a:p>
            <a:pPr marL="851535" marR="427990" indent="-416559">
              <a:lnSpc>
                <a:spcPct val="114599"/>
              </a:lnSpc>
              <a:spcBef>
                <a:spcPts val="5"/>
              </a:spcBef>
            </a:pPr>
            <a:r>
              <a:rPr dirty="0" sz="2400" spc="-60" b="1">
                <a:latin typeface="Tahoma"/>
                <a:cs typeface="Tahoma"/>
              </a:rPr>
              <a:t>motor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spc="-60" b="1">
                <a:latin typeface="Tahoma"/>
                <a:cs typeface="Tahoma"/>
              </a:rPr>
              <a:t>defect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fixed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5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working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0" y="5482313"/>
            <a:ext cx="3699510" cy="184848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28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endParaRPr sz="2400">
              <a:latin typeface="Times New Roman"/>
              <a:cs typeface="Times New Roman"/>
            </a:endParaRPr>
          </a:p>
          <a:p>
            <a:pPr marL="1085215" marR="481330" indent="-597535">
              <a:lnSpc>
                <a:spcPct val="114599"/>
              </a:lnSpc>
              <a:spcBef>
                <a:spcPts val="5"/>
              </a:spcBef>
            </a:pPr>
            <a:r>
              <a:rPr dirty="0" sz="2400" b="1">
                <a:latin typeface="Tahoma"/>
                <a:cs typeface="Tahoma"/>
              </a:rPr>
              <a:t>double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lead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50" b="1">
                <a:latin typeface="Tahoma"/>
                <a:cs typeface="Tahoma"/>
              </a:rPr>
              <a:t>screw </a:t>
            </a:r>
            <a:r>
              <a:rPr dirty="0" sz="2400" spc="-10" b="1">
                <a:latin typeface="Tahoma"/>
                <a:cs typeface="Tahoma"/>
              </a:rPr>
              <a:t>alignment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89924" y="5482313"/>
            <a:ext cx="4969510" cy="184848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28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endParaRPr sz="2400">
              <a:latin typeface="Times New Roman"/>
              <a:cs typeface="Times New Roman"/>
            </a:endParaRPr>
          </a:p>
          <a:p>
            <a:pPr marL="638175" marR="630555" indent="83820">
              <a:lnSpc>
                <a:spcPct val="114599"/>
              </a:lnSpc>
              <a:spcBef>
                <a:spcPts val="5"/>
              </a:spcBef>
            </a:pPr>
            <a:r>
              <a:rPr dirty="0" sz="2400" spc="-20" b="1">
                <a:latin typeface="Tahoma"/>
                <a:cs typeface="Tahoma"/>
              </a:rPr>
              <a:t>keeping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one</a:t>
            </a:r>
            <a:r>
              <a:rPr dirty="0" sz="2400" spc="-10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lead</a:t>
            </a:r>
            <a:r>
              <a:rPr dirty="0" sz="2400" spc="-10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screw </a:t>
            </a:r>
            <a:r>
              <a:rPr dirty="0" sz="2400" spc="-35" b="1">
                <a:latin typeface="Tahoma"/>
                <a:cs typeface="Tahoma"/>
              </a:rPr>
              <a:t>stationary,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moving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spc="-40" b="1">
                <a:latin typeface="Tahoma"/>
                <a:cs typeface="Tahoma"/>
              </a:rPr>
              <a:t>other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049578" y="5482313"/>
            <a:ext cx="3588385" cy="184848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128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endParaRPr sz="2400">
              <a:latin typeface="Times New Roman"/>
              <a:cs typeface="Times New Roman"/>
            </a:endParaRPr>
          </a:p>
          <a:p>
            <a:pPr marL="927100" marR="502284" indent="-417195">
              <a:lnSpc>
                <a:spcPct val="114599"/>
              </a:lnSpc>
              <a:spcBef>
                <a:spcPts val="5"/>
              </a:spcBef>
            </a:pPr>
            <a:r>
              <a:rPr dirty="0" sz="2400" spc="-75" b="1">
                <a:latin typeface="Tahoma"/>
                <a:cs typeface="Tahoma"/>
              </a:rPr>
              <a:t>better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spc="-40" b="1">
                <a:latin typeface="Tahoma"/>
                <a:cs typeface="Tahoma"/>
              </a:rPr>
              <a:t>movement </a:t>
            </a:r>
            <a:r>
              <a:rPr dirty="0" sz="2400" spc="-20" b="1">
                <a:latin typeface="Tahoma"/>
                <a:cs typeface="Tahoma"/>
              </a:rPr>
              <a:t>than</a:t>
            </a:r>
            <a:r>
              <a:rPr dirty="0" sz="2400" spc="-15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earlier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0" y="7520825"/>
            <a:ext cx="3699510" cy="174688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812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Times New Roman"/>
              <a:cs typeface="Times New Roman"/>
            </a:endParaRPr>
          </a:p>
          <a:p>
            <a:pPr marL="1078865" marR="597535" indent="-473709">
              <a:lnSpc>
                <a:spcPct val="114599"/>
              </a:lnSpc>
              <a:spcBef>
                <a:spcPts val="5"/>
              </a:spcBef>
            </a:pPr>
            <a:r>
              <a:rPr dirty="0" sz="2400" spc="-65" b="1">
                <a:latin typeface="Tahoma"/>
                <a:cs typeface="Tahoma"/>
              </a:rPr>
              <a:t>tight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mechanical </a:t>
            </a:r>
            <a:r>
              <a:rPr dirty="0" sz="2400" spc="-10" b="1">
                <a:latin typeface="Tahoma"/>
                <a:cs typeface="Tahoma"/>
              </a:rPr>
              <a:t>tolerances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89924" y="7520825"/>
            <a:ext cx="4969510" cy="174688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812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Times New Roman"/>
              <a:cs typeface="Times New Roman"/>
            </a:endParaRPr>
          </a:p>
          <a:p>
            <a:pPr marL="400685" marR="393065" indent="254000">
              <a:lnSpc>
                <a:spcPct val="114599"/>
              </a:lnSpc>
              <a:spcBef>
                <a:spcPts val="5"/>
              </a:spcBef>
            </a:pPr>
            <a:r>
              <a:rPr dirty="0" sz="2400" b="1">
                <a:latin typeface="Tahoma"/>
                <a:cs typeface="Tahoma"/>
              </a:rPr>
              <a:t>changed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designs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3D </a:t>
            </a:r>
            <a:r>
              <a:rPr dirty="0" sz="2400" spc="-55" b="1">
                <a:latin typeface="Tahoma"/>
                <a:cs typeface="Tahoma"/>
              </a:rPr>
              <a:t>printers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45" b="1">
                <a:latin typeface="Tahoma"/>
                <a:cs typeface="Tahoma"/>
              </a:rPr>
              <a:t>for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75" b="1">
                <a:latin typeface="Tahoma"/>
                <a:cs typeface="Tahoma"/>
              </a:rPr>
              <a:t>better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30" b="1">
                <a:latin typeface="Tahoma"/>
                <a:cs typeface="Tahoma"/>
              </a:rPr>
              <a:t>prototype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049578" y="7520825"/>
            <a:ext cx="3588385" cy="1746885"/>
          </a:xfrm>
          <a:prstGeom prst="rect">
            <a:avLst/>
          </a:prstGeom>
          <a:solidFill>
            <a:srgbClr val="C6E8F5"/>
          </a:solidFill>
        </p:spPr>
        <p:txBody>
          <a:bodyPr wrap="square" lIns="0" tIns="812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Times New Roman"/>
              <a:cs typeface="Times New Roman"/>
            </a:endParaRPr>
          </a:p>
          <a:p>
            <a:pPr marL="618490" marR="475615" indent="-135890">
              <a:lnSpc>
                <a:spcPct val="114599"/>
              </a:lnSpc>
              <a:spcBef>
                <a:spcPts val="5"/>
              </a:spcBef>
            </a:pPr>
            <a:r>
              <a:rPr dirty="0" sz="2400" spc="-45" b="1">
                <a:latin typeface="Tahoma"/>
                <a:cs typeface="Tahoma"/>
              </a:rPr>
              <a:t>more</a:t>
            </a:r>
            <a:r>
              <a:rPr dirty="0" sz="2400" spc="-114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flexible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and </a:t>
            </a:r>
            <a:r>
              <a:rPr dirty="0" sz="2400" spc="-55" b="1">
                <a:latin typeface="Tahoma"/>
                <a:cs typeface="Tahoma"/>
              </a:rPr>
              <a:t>accurate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design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022529" y="1714872"/>
            <a:ext cx="53587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80" b="1">
                <a:latin typeface="Tahoma"/>
                <a:cs typeface="Tahoma"/>
              </a:rPr>
              <a:t>CHALLENGES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022529" y="2476872"/>
            <a:ext cx="474218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05" b="1">
                <a:latin typeface="Tahoma"/>
                <a:cs typeface="Tahoma"/>
              </a:rPr>
              <a:t>FACED</a:t>
            </a:r>
            <a:r>
              <a:rPr dirty="0" sz="6000" spc="765" b="1">
                <a:latin typeface="Tahoma"/>
                <a:cs typeface="Tahoma"/>
              </a:rPr>
              <a:t> </a:t>
            </a:r>
            <a:r>
              <a:rPr dirty="0" sz="6000" spc="245" b="1">
                <a:latin typeface="Tahoma"/>
                <a:cs typeface="Tahoma"/>
              </a:rPr>
              <a:t>AND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022529" y="3238872"/>
            <a:ext cx="35255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latin typeface="Tahoma"/>
                <a:cs typeface="Tahoma"/>
              </a:rPr>
              <a:t>HOW</a:t>
            </a:r>
            <a:r>
              <a:rPr dirty="0" sz="6000" spc="765" b="1">
                <a:latin typeface="Tahoma"/>
                <a:cs typeface="Tahoma"/>
              </a:rPr>
              <a:t> </a:t>
            </a:r>
            <a:r>
              <a:rPr dirty="0" sz="6000" spc="-80" b="1">
                <a:latin typeface="Tahoma"/>
                <a:cs typeface="Tahoma"/>
              </a:rPr>
              <a:t>WE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022529" y="4000872"/>
            <a:ext cx="31978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10" b="1">
                <a:latin typeface="Tahoma"/>
                <a:cs typeface="Tahoma"/>
              </a:rPr>
              <a:t>SOLVED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022529" y="4762872"/>
            <a:ext cx="22885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75" b="1">
                <a:latin typeface="Tahoma"/>
                <a:cs typeface="Tahoma"/>
              </a:rPr>
              <a:t>THEM</a:t>
            </a:r>
            <a:endParaRPr sz="6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286" y="1730608"/>
            <a:ext cx="13496939" cy="730569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536101" y="1620953"/>
            <a:ext cx="5215890" cy="0"/>
          </a:xfrm>
          <a:custGeom>
            <a:avLst/>
            <a:gdLst/>
            <a:ahLst/>
            <a:cxnLst/>
            <a:rect l="l" t="t" r="r" b="b"/>
            <a:pathLst>
              <a:path w="5215890" h="0">
                <a:moveTo>
                  <a:pt x="0" y="0"/>
                </a:moveTo>
                <a:lnTo>
                  <a:pt x="521580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403" y="9299174"/>
            <a:ext cx="191485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125" y="9299174"/>
            <a:ext cx="191484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9394" y="9299174"/>
            <a:ext cx="191486" cy="1900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87118" y="9299174"/>
            <a:ext cx="191486" cy="1900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33082" y="9299174"/>
            <a:ext cx="191485" cy="190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90803" y="9299174"/>
            <a:ext cx="191484" cy="19005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15072" y="9299174"/>
            <a:ext cx="191486" cy="19005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2796" y="9299174"/>
            <a:ext cx="191486" cy="19005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14545">
              <a:lnSpc>
                <a:spcPct val="100000"/>
              </a:lnSpc>
              <a:spcBef>
                <a:spcPts val="100"/>
              </a:spcBef>
            </a:pPr>
            <a:r>
              <a:rPr dirty="0" spc="345"/>
              <a:t>DEM</a:t>
            </a:r>
            <a:r>
              <a:rPr dirty="0" spc="-300"/>
              <a:t>O</a:t>
            </a:r>
            <a:r>
              <a:rPr dirty="0" spc="1005"/>
              <a:t> </a:t>
            </a:r>
            <a:r>
              <a:rPr dirty="0" spc="170"/>
              <a:t>VIDE</a:t>
            </a:r>
            <a:r>
              <a:rPr dirty="0" spc="-475"/>
              <a:t>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05516" y="2357393"/>
            <a:ext cx="5215890" cy="0"/>
          </a:xfrm>
          <a:custGeom>
            <a:avLst/>
            <a:gdLst/>
            <a:ahLst/>
            <a:cxnLst/>
            <a:rect l="l" t="t" r="r" b="b"/>
            <a:pathLst>
              <a:path w="5215890" h="0">
                <a:moveTo>
                  <a:pt x="0" y="0"/>
                </a:moveTo>
                <a:lnTo>
                  <a:pt x="521580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01" y="3044729"/>
            <a:ext cx="7600949" cy="4936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14307" y="1869676"/>
            <a:ext cx="191485" cy="1900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72030" y="1869676"/>
            <a:ext cx="191484" cy="1900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6297" y="1869676"/>
            <a:ext cx="191486" cy="1900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021" y="1869676"/>
            <a:ext cx="191486" cy="1900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3081" y="9163263"/>
            <a:ext cx="191485" cy="1900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0803" y="9163263"/>
            <a:ext cx="191484" cy="19005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05071" y="9163263"/>
            <a:ext cx="191486" cy="19005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2795" y="9163263"/>
            <a:ext cx="191486" cy="19005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98693" y="5345216"/>
            <a:ext cx="5781689" cy="400479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98693" y="571746"/>
            <a:ext cx="4724399" cy="457199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3677988" y="2100213"/>
            <a:ext cx="4622800" cy="53403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586105">
              <a:lnSpc>
                <a:spcPct val="116300"/>
              </a:lnSpc>
              <a:spcBef>
                <a:spcPts val="95"/>
              </a:spcBef>
            </a:pPr>
            <a:r>
              <a:rPr dirty="0" sz="10000" spc="-805"/>
              <a:t>MINDS BEHIND</a:t>
            </a:r>
            <a:endParaRPr sz="10000"/>
          </a:p>
          <a:p>
            <a:pPr algn="r" marR="5080">
              <a:lnSpc>
                <a:spcPct val="100000"/>
              </a:lnSpc>
              <a:spcBef>
                <a:spcPts val="1950"/>
              </a:spcBef>
            </a:pPr>
            <a:r>
              <a:rPr dirty="0" sz="10000" spc="-1030"/>
              <a:t>THIS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Arijit Paul</dc:creator>
  <cp:keywords>DAHGdWAA1wI,BAFzwqawZM4,0</cp:keywords>
  <dc:title>final</dc:title>
  <dcterms:created xsi:type="dcterms:W3CDTF">2026-04-12T01:35:48Z</dcterms:created>
  <dcterms:modified xsi:type="dcterms:W3CDTF">2026-04-12T01:35:48Z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2026-04-12T00:00:00Z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2026-04-12T00:00:00Z</vt:filetime>
  </property>
  <property fmtid="{D5CDD505-2E9C-101B-9397-08002B2CF9AE}" pid="5" name="Producer">
    <vt:lpwstr>iLovePDF</vt:lpwstr>
  </property>
  <property fmtid="{D5CDD505-2E9C-101B-9397-08002B2CF9AE}" pid="6" name="containsAiGeneratedContent">
    <vt:lpwstr>Yes</vt:lpwstr>
  </property>
</Properties>
</file>